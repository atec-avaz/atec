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98" r:id="rId2"/>
    <p:sldId id="319" r:id="rId3"/>
    <p:sldId id="320" r:id="rId4"/>
    <p:sldId id="321" r:id="rId5"/>
    <p:sldId id="322" r:id="rId6"/>
    <p:sldId id="323" r:id="rId7"/>
    <p:sldId id="324" r:id="rId8"/>
    <p:sldId id="326" r:id="rId9"/>
    <p:sldId id="325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1" r:id="rId24"/>
    <p:sldId id="340" r:id="rId25"/>
    <p:sldId id="342" r:id="rId26"/>
    <p:sldId id="343" r:id="rId27"/>
    <p:sldId id="344" r:id="rId28"/>
    <p:sldId id="345" r:id="rId29"/>
  </p:sldIdLst>
  <p:sldSz cx="9906000" cy="6858000" type="A4"/>
  <p:notesSz cx="6794500" cy="9931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">
          <p15:clr>
            <a:srgbClr val="A4A3A4"/>
          </p15:clr>
        </p15:guide>
        <p15:guide id="2" orient="horz" pos="733">
          <p15:clr>
            <a:srgbClr val="A4A3A4"/>
          </p15:clr>
        </p15:guide>
        <p15:guide id="3" orient="horz" pos="409">
          <p15:clr>
            <a:srgbClr val="A4A3A4"/>
          </p15:clr>
        </p15:guide>
        <p15:guide id="4" orient="horz" pos="966">
          <p15:clr>
            <a:srgbClr val="A4A3A4"/>
          </p15:clr>
        </p15:guide>
        <p15:guide id="5" orient="horz" pos="3878">
          <p15:clr>
            <a:srgbClr val="A4A3A4"/>
          </p15:clr>
        </p15:guide>
        <p15:guide id="6" orient="horz" pos="4034">
          <p15:clr>
            <a:srgbClr val="A4A3A4"/>
          </p15:clr>
        </p15:guide>
        <p15:guide id="7" pos="5660">
          <p15:clr>
            <a:srgbClr val="A4A3A4"/>
          </p15:clr>
        </p15:guide>
        <p15:guide id="8" pos="149">
          <p15:clr>
            <a:srgbClr val="A4A3A4"/>
          </p15:clr>
        </p15:guide>
        <p15:guide id="9" pos="6090">
          <p15:clr>
            <a:srgbClr val="A4A3A4"/>
          </p15:clr>
        </p15:guide>
        <p15:guide id="10" pos="6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D20"/>
    <a:srgbClr val="000000"/>
    <a:srgbClr val="003C65"/>
    <a:srgbClr val="2274AC"/>
    <a:srgbClr val="FFC000"/>
    <a:srgbClr val="007DC5"/>
    <a:srgbClr val="FFD100"/>
    <a:srgbClr val="51A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26" autoAdjust="0"/>
    <p:restoredTop sz="96691" autoAdjust="0"/>
  </p:normalViewPr>
  <p:slideViewPr>
    <p:cSldViewPr snapToGrid="0">
      <p:cViewPr varScale="1">
        <p:scale>
          <a:sx n="88" d="100"/>
          <a:sy n="88" d="100"/>
        </p:scale>
        <p:origin x="1458" y="84"/>
      </p:cViewPr>
      <p:guideLst>
        <p:guide orient="horz" pos="216"/>
        <p:guide orient="horz" pos="733"/>
        <p:guide orient="horz" pos="409"/>
        <p:guide orient="horz" pos="966"/>
        <p:guide orient="horz" pos="3878"/>
        <p:guide orient="horz" pos="4034"/>
        <p:guide pos="5660"/>
        <p:guide pos="149"/>
        <p:guide pos="6090"/>
        <p:guide pos="65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366" y="60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DDB26-5A39-475D-920B-32AAE1E9FCB7}" type="datetimeFigureOut">
              <a:rPr lang="pt-PT" smtClean="0"/>
              <a:t>02-06-2015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CD56E-ECDA-402E-9936-59A7DBA7136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5713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34A03-512B-4175-A05C-244CAC0C2483}" type="datetimeFigureOut">
              <a:rPr lang="de-DE" smtClean="0"/>
              <a:t>02.06.2015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744538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26462-A666-4A36-A2AC-732EB02906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27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EC slide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019175" y="4425950"/>
            <a:ext cx="7953375" cy="7493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noProof="0" dirty="0" smtClean="0"/>
              <a:t>TÍTULO APRESENTAÇÃO</a:t>
            </a:r>
            <a:endParaRPr lang="de-DE" noProof="0" dirty="0" smtClean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906000" cy="627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5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42" y="2045603"/>
            <a:ext cx="5400000" cy="141472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019175" y="5248800"/>
            <a:ext cx="7953375" cy="530225"/>
          </a:xfrm>
        </p:spPr>
        <p:txBody>
          <a:bodyPr anchor="b"/>
          <a:lstStyle>
            <a:lvl1pPr marL="0" marR="0" indent="0" algn="ctr" defTabSz="914400" rtl="0" eaLnBrk="1" fontAlgn="base" latinLnBrk="0" hangingPunct="1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800" b="0" i="0" u="none" strike="noStrike" baseline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u="none" strike="noStrike" baseline="0" dirty="0" smtClean="0">
                <a:solidFill>
                  <a:srgbClr val="33434C"/>
                </a:solidFill>
                <a:latin typeface="+mn-lt"/>
              </a:rPr>
              <a:t>                         Arial Headings 28 </a:t>
            </a:r>
            <a:r>
              <a:rPr lang="en-US" sz="2800" b="0" i="0" u="none" strike="noStrike" baseline="0" dirty="0" err="1" smtClean="0">
                <a:solidFill>
                  <a:srgbClr val="33434C"/>
                </a:solidFill>
                <a:latin typeface="+mn-lt"/>
              </a:rPr>
              <a:t>pt</a:t>
            </a:r>
            <a:endParaRPr lang="en-US" sz="2800" b="0" i="0" u="none" strike="noStrike" baseline="0" dirty="0" smtClean="0">
              <a:solidFill>
                <a:srgbClr val="33434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444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EC  Sli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031874" y="1195660"/>
            <a:ext cx="7953375" cy="49323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2100">
                <a:solidFill>
                  <a:srgbClr val="000000"/>
                </a:solidFill>
              </a:defRPr>
            </a:lvl4pPr>
            <a:lvl5pPr>
              <a:defRPr sz="21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Arial 24</a:t>
            </a:r>
          </a:p>
          <a:p>
            <a:pPr lvl="1"/>
            <a:r>
              <a:rPr lang="en-US" dirty="0" smtClean="0"/>
              <a:t>Arial 20</a:t>
            </a:r>
          </a:p>
          <a:p>
            <a:pPr lvl="2"/>
            <a:r>
              <a:rPr lang="en-US" dirty="0" smtClean="0"/>
              <a:t>Arial 18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  <p:sp>
        <p:nvSpPr>
          <p:cNvPr id="11" name="Rectangle 4"/>
          <p:cNvSpPr txBox="1">
            <a:spLocks noChangeArrowheads="1"/>
          </p:cNvSpPr>
          <p:nvPr userDrawn="1"/>
        </p:nvSpPr>
        <p:spPr bwMode="auto">
          <a:xfrm>
            <a:off x="2699200" y="6518422"/>
            <a:ext cx="4445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tabLst>
                <a:tab pos="1003300" algn="l"/>
                <a:tab pos="2751138" algn="l"/>
              </a:tabLst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ATEC – PCOO 5413</a:t>
            </a:r>
            <a:endParaRPr lang="de-DE" dirty="0"/>
          </a:p>
        </p:txBody>
      </p:sp>
      <p:sp>
        <p:nvSpPr>
          <p:cNvPr id="12" name="Rectangle 2"/>
          <p:cNvSpPr txBox="1">
            <a:spLocks noChangeArrowheads="1"/>
          </p:cNvSpPr>
          <p:nvPr userDrawn="1"/>
        </p:nvSpPr>
        <p:spPr bwMode="auto">
          <a:xfrm>
            <a:off x="1031875" y="306535"/>
            <a:ext cx="79533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103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Arial 28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48091249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add title style</a:t>
            </a:r>
            <a:endParaRPr lang="pt-P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ATEC – PCOO 5413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031874" y="1195660"/>
            <a:ext cx="7953375" cy="49323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2100">
                <a:solidFill>
                  <a:srgbClr val="000000"/>
                </a:solidFill>
              </a:defRPr>
            </a:lvl4pPr>
            <a:lvl5pPr>
              <a:defRPr sz="21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Arial 20</a:t>
            </a:r>
          </a:p>
          <a:p>
            <a:pPr lvl="2"/>
            <a:r>
              <a:rPr lang="en-US" dirty="0" smtClean="0"/>
              <a:t>Arial 18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084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9175" y="287338"/>
            <a:ext cx="79533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Arial 28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1875" y="1236663"/>
            <a:ext cx="7953375" cy="491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Arial 24</a:t>
            </a:r>
          </a:p>
          <a:p>
            <a:pPr marL="266700" marR="0" lvl="1" indent="-265113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VW Headline OT-Book" pitchFamily="34" charset="0"/>
              <a:buChar char="–"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</a:rPr>
              <a:t>Arial 20</a:t>
            </a:r>
          </a:p>
          <a:p>
            <a:pPr marL="533400" marR="0" lvl="2" indent="-265113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VW Headline OT-Book" pitchFamily="34" charset="0"/>
              <a:buChar char="–"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</a:rPr>
              <a:t>Arial 18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1500" y="6499225"/>
            <a:ext cx="4445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tabLst>
                <a:tab pos="1003300" algn="l"/>
                <a:tab pos="2751138" algn="l"/>
              </a:tabLst>
              <a:defRPr sz="1000" b="1"/>
            </a:lvl1pPr>
          </a:lstStyle>
          <a:p>
            <a:r>
              <a:rPr lang="de-DE" dirty="0" smtClean="0"/>
              <a:t>ATEC – PCOO 5413</a:t>
            </a:r>
            <a:endParaRPr lang="de-DE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79593" y="6490493"/>
            <a:ext cx="161131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000" b="1"/>
            </a:lvl1pPr>
          </a:lstStyle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7113" y="6499225"/>
            <a:ext cx="900112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000"/>
            </a:lvl1pPr>
          </a:lstStyle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84312"/>
            <a:ext cx="98640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0" y="6381328"/>
            <a:ext cx="99000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4" y="247555"/>
            <a:ext cx="1440000" cy="3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6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103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Tx/>
        <a:buNone/>
        <a:tabLst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66700" marR="0" indent="-265113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5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400" marR="0" indent="-265113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784225" marR="0" indent="-249238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47750" marR="0" indent="-261938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Programação Computadores – Orientada </a:t>
            </a:r>
            <a:r>
              <a:rPr lang="pt-PT" dirty="0" err="1" smtClean="0">
                <a:solidFill>
                  <a:schemeClr val="bg1">
                    <a:lumMod val="50000"/>
                  </a:schemeClr>
                </a:solidFill>
              </a:rPr>
              <a:t>Objectos</a:t>
            </a:r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 5413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51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Introdução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4" y="1052818"/>
            <a:ext cx="7953375" cy="4994650"/>
          </a:xfrm>
        </p:spPr>
        <p:txBody>
          <a:bodyPr/>
          <a:lstStyle/>
          <a:p>
            <a:r>
              <a:rPr lang="pt-PT" sz="1800" dirty="0" smtClean="0"/>
              <a:t>Apresentação IDE Visual </a:t>
            </a:r>
            <a:r>
              <a:rPr lang="pt-PT" sz="1800" dirty="0" err="1" smtClean="0"/>
              <a:t>Studio</a:t>
            </a:r>
            <a:endParaRPr lang="pt-PT" sz="1800" dirty="0"/>
          </a:p>
          <a:p>
            <a:r>
              <a:rPr lang="pt-PT" sz="1800" dirty="0" smtClean="0"/>
              <a:t>	Criação de um programa exemplo</a:t>
            </a:r>
          </a:p>
          <a:p>
            <a:r>
              <a:rPr lang="pt-PT" sz="1800" dirty="0" smtClean="0"/>
              <a:t>	Exercícios simples de introdução à linguagem (IF, FOR, WHILE … 		Output de dados, Leitura de dados)</a:t>
            </a:r>
          </a:p>
          <a:p>
            <a:r>
              <a:rPr lang="pt-PT" sz="1800" dirty="0" smtClean="0"/>
              <a:t>Exercícios</a:t>
            </a:r>
            <a:endParaRPr lang="pt-PT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30885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Introdução Framework .NET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3</a:t>
            </a:fld>
            <a:endParaRPr lang="de-DE" dirty="0"/>
          </a:p>
        </p:txBody>
      </p:sp>
      <p:pic>
        <p:nvPicPr>
          <p:cNvPr id="1026" name="Picture 2" descr="http://www.willydev.net/InsiteCreation/v1.0/Desde0/m02/M02_05.gif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7" y="1045935"/>
            <a:ext cx="7602878" cy="494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227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Introdução Framework .NET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343704"/>
            <a:ext cx="92583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753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Introdução Framework .NET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85" y="736573"/>
            <a:ext cx="6249761" cy="15061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805" y="4255737"/>
            <a:ext cx="5042070" cy="22219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8" y="2242727"/>
            <a:ext cx="6142491" cy="20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958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6963" y="923515"/>
            <a:ext cx="9063832" cy="5357541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pt-PT" dirty="0" smtClean="0"/>
              <a:t>Programa que escreva na consola “Hello World”;</a:t>
            </a:r>
          </a:p>
          <a:p>
            <a:pPr marL="457200" indent="-457200" algn="just">
              <a:buAutoNum type="arabicPeriod"/>
            </a:pPr>
            <a:r>
              <a:rPr lang="pt-PT" dirty="0" smtClean="0"/>
              <a:t>Programa que solicite ao utilizador a introdução do seu nome e da sua idade e o apresente de seguida na consola;</a:t>
            </a:r>
          </a:p>
          <a:p>
            <a:pPr marL="457200" indent="-457200" algn="just">
              <a:buAutoNum type="arabicPeriod"/>
            </a:pPr>
            <a:r>
              <a:rPr lang="pt-PT" dirty="0" smtClean="0"/>
              <a:t>Programa que permita guardar um array de inteiros, criar também um método que permita calcular a soma dos valores desse array;</a:t>
            </a:r>
          </a:p>
          <a:p>
            <a:pPr marL="457200" indent="-457200" algn="just">
              <a:buAutoNum type="arabicPeriod"/>
            </a:pPr>
            <a:r>
              <a:rPr lang="pt-PT" dirty="0" smtClean="0"/>
              <a:t>Programa que permita ler um texto e que identifique se se trata de um palíndromo;</a:t>
            </a:r>
          </a:p>
          <a:p>
            <a:pPr marL="457200" indent="-457200" algn="just">
              <a:buAutoNum type="arabicPeriod"/>
            </a:pPr>
            <a:r>
              <a:rPr lang="pt-PT" dirty="0" smtClean="0"/>
              <a:t>Programa que aceite dois parametros de entrada, compile o programa e execute-o a partir da linha de comandos do windows;</a:t>
            </a:r>
            <a:endParaRPr lang="pt-P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Exercícios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6843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0787" y="943370"/>
            <a:ext cx="7048842" cy="50778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6056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Métodos “get”/”set”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PT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54" y="737394"/>
            <a:ext cx="5195774" cy="54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1851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9</a:t>
            </a:fld>
            <a:endParaRPr lang="de-D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4819" y="1052172"/>
            <a:ext cx="9187914" cy="49676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- Properties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7586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- Métodos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PT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5" y="1935888"/>
            <a:ext cx="7247194" cy="225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0170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Exemplo utilização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1375" y="1187450"/>
            <a:ext cx="6528254" cy="504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102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PT" dirty="0" smtClean="0"/>
              <a:t>Pretende-se construir uma classe Automovel que respeite a seguinte especificação:</a:t>
            </a:r>
          </a:p>
          <a:p>
            <a:r>
              <a:rPr lang="pt-PT" b="1" dirty="0" smtClean="0"/>
              <a:t>Atributos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Côr;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Marca;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Modelo;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Ano fabrico;</a:t>
            </a:r>
          </a:p>
          <a:p>
            <a:pPr marL="0" lvl="1" indent="0">
              <a:buNone/>
            </a:pPr>
            <a:r>
              <a:rPr lang="pt-PT" sz="2400" b="1" dirty="0"/>
              <a:t>Construtor</a:t>
            </a:r>
          </a:p>
          <a:p>
            <a:pPr marL="609600" lvl="1" indent="-342900">
              <a:buFontTx/>
              <a:buChar char="-"/>
            </a:pPr>
            <a:r>
              <a:rPr lang="pt-PT" dirty="0"/>
              <a:t>Todos os atributos acima definidos;</a:t>
            </a:r>
          </a:p>
          <a:p>
            <a:pPr marL="0" lvl="1" indent="0">
              <a:lnSpc>
                <a:spcPct val="113000"/>
              </a:lnSpc>
              <a:buNone/>
            </a:pPr>
            <a:r>
              <a:rPr lang="pt-PT" sz="2400" b="1" dirty="0" smtClean="0"/>
              <a:t>Properties</a:t>
            </a:r>
          </a:p>
          <a:p>
            <a:pPr marL="609600" lvl="1" indent="-342900">
              <a:buFontTx/>
              <a:buChar char="-"/>
            </a:pPr>
            <a:r>
              <a:rPr lang="pt-PT" dirty="0"/>
              <a:t>Apenas gets</a:t>
            </a:r>
          </a:p>
          <a:p>
            <a:pPr marL="0" lvl="1" indent="0">
              <a:lnSpc>
                <a:spcPct val="113000"/>
              </a:lnSpc>
              <a:buNone/>
            </a:pPr>
            <a:r>
              <a:rPr lang="pt-PT" sz="2400" b="1" dirty="0" smtClean="0"/>
              <a:t>Métodos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Override </a:t>
            </a:r>
            <a:r>
              <a:rPr lang="pt-PT" dirty="0"/>
              <a:t>do método “toString</a:t>
            </a:r>
            <a:r>
              <a:rPr lang="pt-PT" dirty="0" smtClean="0"/>
              <a:t>”</a:t>
            </a:r>
          </a:p>
          <a:p>
            <a:pPr lvl="1" indent="0">
              <a:buNone/>
            </a:pPr>
            <a:endParaRPr lang="pt-PT" dirty="0"/>
          </a:p>
          <a:p>
            <a:pPr lvl="1" indent="0">
              <a:buNone/>
            </a:pPr>
            <a:r>
              <a:rPr lang="pt-PT" b="1" u="sng" dirty="0" smtClean="0"/>
              <a:t>Implemente apenas o que foi pedido respeitando as boas práticas de nomenclaturas que foram abordadas nas aulas.</a:t>
            </a:r>
            <a:endParaRPr lang="pt-PT" b="1" u="sng" dirty="0"/>
          </a:p>
        </p:txBody>
      </p:sp>
    </p:spTree>
    <p:extLst>
      <p:ext uri="{BB962C8B-B14F-4D97-AF65-F5344CB8AC3E}">
        <p14:creationId xmlns:p14="http://schemas.microsoft.com/office/powerpoint/2010/main" val="43742392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PT" dirty="0" smtClean="0"/>
              <a:t>Pretende-se construir uma classe EntidadeIMTT que respeite a seguinte especificação:</a:t>
            </a:r>
          </a:p>
          <a:p>
            <a:pPr marL="0" lvl="1" indent="0">
              <a:lnSpc>
                <a:spcPct val="113000"/>
              </a:lnSpc>
              <a:buNone/>
            </a:pPr>
            <a:r>
              <a:rPr lang="pt-PT" sz="2400" b="1" dirty="0" smtClean="0"/>
              <a:t>Métodos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Estático que permita validar se uma marca, modelo e ano de fabrico são combinações válidas;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Para as validações e para efeitos académicos vamos considerar apenas as seguintes combinações hardcoded:</a:t>
            </a:r>
          </a:p>
          <a:p>
            <a:pPr marL="876300" lvl="2" indent="-342900">
              <a:buFontTx/>
              <a:buChar char="-"/>
            </a:pPr>
            <a:r>
              <a:rPr lang="pt-PT" b="1" dirty="0" smtClean="0"/>
              <a:t>Volkswagen</a:t>
            </a:r>
          </a:p>
          <a:p>
            <a:pPr marL="1127125" lvl="3" indent="-342900">
              <a:buFontTx/>
              <a:buChar char="-"/>
            </a:pPr>
            <a:r>
              <a:rPr lang="pt-PT" sz="1800" b="1" i="1" dirty="0" smtClean="0"/>
              <a:t>Golf</a:t>
            </a:r>
          </a:p>
          <a:p>
            <a:pPr marL="1390650" lvl="4" indent="-342900">
              <a:buFontTx/>
              <a:buChar char="-"/>
            </a:pPr>
            <a:r>
              <a:rPr lang="pt-PT" sz="1800" dirty="0" smtClean="0"/>
              <a:t>1987 - 2015</a:t>
            </a:r>
          </a:p>
          <a:p>
            <a:pPr marL="876300" lvl="2" indent="-342900">
              <a:buFontTx/>
              <a:buChar char="-"/>
            </a:pPr>
            <a:r>
              <a:rPr lang="pt-PT" b="1" dirty="0" smtClean="0"/>
              <a:t>Seat</a:t>
            </a:r>
          </a:p>
          <a:p>
            <a:pPr marL="1127125" lvl="3" indent="-342900">
              <a:buFontTx/>
              <a:buChar char="-"/>
            </a:pPr>
            <a:r>
              <a:rPr lang="pt-PT" sz="1800" b="1" i="1" dirty="0" smtClean="0"/>
              <a:t>Leon</a:t>
            </a:r>
          </a:p>
          <a:p>
            <a:pPr marL="1390650" lvl="4" indent="-342900">
              <a:buFontTx/>
              <a:buChar char="-"/>
            </a:pPr>
            <a:r>
              <a:rPr lang="pt-PT" sz="1800" dirty="0" smtClean="0"/>
              <a:t>2013 - 2015</a:t>
            </a:r>
          </a:p>
          <a:p>
            <a:pPr lvl="1" indent="0">
              <a:buNone/>
            </a:pPr>
            <a:r>
              <a:rPr lang="pt-PT" b="1" u="sng" dirty="0" smtClean="0"/>
              <a:t>Qualquer combinação que não seja válida deve lançar uma excepção (podem reutilizar uma excepção que já exista e que faça sentido para este caso).</a:t>
            </a:r>
          </a:p>
          <a:p>
            <a:pPr lvl="1" indent="0">
              <a:buNone/>
            </a:pPr>
            <a:r>
              <a:rPr lang="pt-PT" b="1" u="sng" dirty="0" smtClean="0"/>
              <a:t>Implemente apenas o que foi pedido respeitando as boas práticas de nomenclaturas que foram abordadas nas aulas.</a:t>
            </a:r>
            <a:endParaRPr lang="pt-PT" b="1" u="sng" dirty="0"/>
          </a:p>
        </p:txBody>
      </p:sp>
    </p:spTree>
    <p:extLst>
      <p:ext uri="{BB962C8B-B14F-4D97-AF65-F5344CB8AC3E}">
        <p14:creationId xmlns:p14="http://schemas.microsoft.com/office/powerpoint/2010/main" val="14677982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PT" b="1" dirty="0" smtClean="0"/>
              <a:t>3 -</a:t>
            </a:r>
            <a:r>
              <a:rPr lang="pt-PT" dirty="0" smtClean="0"/>
              <a:t> Adicione a validação de marca, modelo e ano de fabrico à classe Automóvel reutilizando o método criado na EntidadeIMTT efectuando essa validação no construtor da classe.</a:t>
            </a:r>
          </a:p>
          <a:p>
            <a:endParaRPr lang="pt-PT" dirty="0"/>
          </a:p>
          <a:p>
            <a:r>
              <a:rPr lang="pt-PT" b="1" dirty="0" smtClean="0"/>
              <a:t>4 - </a:t>
            </a:r>
            <a:r>
              <a:rPr lang="pt-PT" dirty="0" smtClean="0"/>
              <a:t>Crie uma classe Volkswagen e uma classe Seat que tenham como super classe a classe Automovel.</a:t>
            </a:r>
          </a:p>
          <a:p>
            <a:r>
              <a:rPr lang="pt-PT" dirty="0" smtClean="0"/>
              <a:t>Cada uma das novas classes deve ter apenas </a:t>
            </a:r>
            <a:r>
              <a:rPr lang="pt-PT" sz="3300" b="1" u="sng" dirty="0" smtClean="0"/>
              <a:t>um construtor que aceite 3 parâmetros</a:t>
            </a:r>
            <a:r>
              <a:rPr lang="pt-PT" dirty="0" smtClean="0"/>
              <a:t>: cor, modelo e anoFabrico</a:t>
            </a:r>
          </a:p>
          <a:p>
            <a:endParaRPr lang="pt-PT" dirty="0"/>
          </a:p>
          <a:p>
            <a:r>
              <a:rPr lang="pt-PT" b="1" dirty="0" smtClean="0"/>
              <a:t>5</a:t>
            </a:r>
            <a:r>
              <a:rPr lang="pt-PT" dirty="0" smtClean="0"/>
              <a:t> – Implemente um método </a:t>
            </a:r>
            <a:r>
              <a:rPr lang="pt-PT" sz="3300" b="1" u="sng" dirty="0" smtClean="0"/>
              <a:t>estático</a:t>
            </a:r>
            <a:r>
              <a:rPr lang="pt-PT" dirty="0" smtClean="0"/>
              <a:t> na classe EntidadeIMTT que permita decidir se um determinado automóvel pode circular em Lisboa (anoFabrico &gt;= 2000  =&gt;  pode circular). Esse método deve devolver um </a:t>
            </a:r>
            <a:r>
              <a:rPr lang="pt-PT" sz="3300" b="1" u="sng" dirty="0" smtClean="0"/>
              <a:t>booleano</a:t>
            </a:r>
            <a:r>
              <a:rPr lang="pt-PT" dirty="0" smtClean="0"/>
              <a:t> que indica a possibilidade de circular para um dado veículo.</a:t>
            </a:r>
          </a:p>
        </p:txBody>
      </p:sp>
    </p:spTree>
    <p:extLst>
      <p:ext uri="{BB962C8B-B14F-4D97-AF65-F5344CB8AC3E}">
        <p14:creationId xmlns:p14="http://schemas.microsoft.com/office/powerpoint/2010/main" val="20793822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Encapsulamento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8588" y="901746"/>
            <a:ext cx="7953375" cy="4932362"/>
          </a:xfrm>
        </p:spPr>
        <p:txBody>
          <a:bodyPr>
            <a:noAutofit/>
          </a:bodyPr>
          <a:lstStyle/>
          <a:p>
            <a:r>
              <a:rPr lang="pt-PT" sz="1200" b="1" dirty="0" smtClean="0"/>
              <a:t>public class Conta{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private float saldo;</a:t>
            </a:r>
          </a:p>
          <a:p>
            <a:r>
              <a:rPr lang="pt-PT" sz="1200" dirty="0"/>
              <a:t>	</a:t>
            </a:r>
            <a:r>
              <a:rPr lang="pt-PT" sz="1200" b="1" dirty="0" smtClean="0"/>
              <a:t>public Conta(float saldo){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this.saldo = saldo;</a:t>
            </a:r>
          </a:p>
          <a:p>
            <a:r>
              <a:rPr lang="pt-PT" sz="1200" dirty="0"/>
              <a:t>	</a:t>
            </a:r>
            <a:r>
              <a:rPr lang="pt-PT" sz="1200" b="1" dirty="0" smtClean="0"/>
              <a:t>}</a:t>
            </a:r>
          </a:p>
          <a:p>
            <a:r>
              <a:rPr lang="pt-PT" sz="1200" b="1" dirty="0"/>
              <a:t>	</a:t>
            </a:r>
            <a:r>
              <a:rPr lang="pt-PT" sz="1200" b="1" dirty="0" smtClean="0"/>
              <a:t>public void add(float in){ 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if(in &gt; 0) saldo += in; 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else throw new ArgumentException(“Nice try ...”);</a:t>
            </a:r>
          </a:p>
          <a:p>
            <a:r>
              <a:rPr lang="pt-PT" sz="1200" dirty="0"/>
              <a:t>	</a:t>
            </a:r>
            <a:r>
              <a:rPr lang="pt-PT" sz="1200" b="1" dirty="0" smtClean="0"/>
              <a:t>}</a:t>
            </a:r>
          </a:p>
          <a:p>
            <a:r>
              <a:rPr lang="pt-PT" sz="1200" b="1" dirty="0"/>
              <a:t>	</a:t>
            </a:r>
            <a:r>
              <a:rPr lang="pt-PT" sz="1200" b="1" dirty="0" smtClean="0"/>
              <a:t>public void withdraw(float out){</a:t>
            </a:r>
          </a:p>
          <a:p>
            <a:r>
              <a:rPr lang="pt-PT" sz="1200" dirty="0" smtClean="0"/>
              <a:t>	</a:t>
            </a:r>
            <a:r>
              <a:rPr lang="pt-PT" sz="1200" dirty="0"/>
              <a:t> </a:t>
            </a:r>
            <a:r>
              <a:rPr lang="pt-PT" sz="1200" dirty="0" smtClean="0"/>
              <a:t>          if(out &lt;= 0) 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throw </a:t>
            </a:r>
            <a:r>
              <a:rPr lang="pt-PT" sz="1200" dirty="0"/>
              <a:t>new ArgumentException</a:t>
            </a:r>
            <a:r>
              <a:rPr lang="pt-PT" sz="1200" dirty="0" smtClean="0"/>
              <a:t>(“Provide a positive value to withdraw”);</a:t>
            </a:r>
          </a:p>
          <a:p>
            <a:r>
              <a:rPr lang="pt-PT" sz="1200" dirty="0"/>
              <a:t>	 </a:t>
            </a:r>
            <a:r>
              <a:rPr lang="pt-PT" sz="1200" dirty="0" smtClean="0"/>
              <a:t>          else 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{</a:t>
            </a:r>
          </a:p>
          <a:p>
            <a:r>
              <a:rPr lang="pt-PT" sz="1200" dirty="0" smtClean="0"/>
              <a:t>		         if(saldo &lt; out) 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	</a:t>
            </a:r>
            <a:r>
              <a:rPr lang="pt-PT" sz="1200" dirty="0"/>
              <a:t> throw new ArgumentException</a:t>
            </a:r>
            <a:r>
              <a:rPr lang="pt-PT" sz="1200" dirty="0" smtClean="0"/>
              <a:t>(“Not enough money to </a:t>
            </a:r>
            <a:r>
              <a:rPr lang="pt-PT" sz="1200" dirty="0"/>
              <a:t>withdraw</a:t>
            </a:r>
            <a:r>
              <a:rPr lang="pt-PT" sz="1200" dirty="0" smtClean="0"/>
              <a:t>”);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         else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	saldo -= out;</a:t>
            </a:r>
          </a:p>
          <a:p>
            <a:r>
              <a:rPr lang="pt-PT" sz="1200" dirty="0"/>
              <a:t>	</a:t>
            </a:r>
            <a:r>
              <a:rPr lang="pt-PT" sz="1200" dirty="0" smtClean="0"/>
              <a:t>	}</a:t>
            </a:r>
          </a:p>
          <a:p>
            <a:r>
              <a:rPr lang="pt-PT" sz="1200" dirty="0"/>
              <a:t>	</a:t>
            </a:r>
            <a:r>
              <a:rPr lang="pt-PT" sz="1200" b="1" dirty="0" smtClean="0"/>
              <a:t>}</a:t>
            </a:r>
          </a:p>
          <a:p>
            <a:r>
              <a:rPr lang="pt-PT" sz="1200" dirty="0"/>
              <a:t>}</a:t>
            </a:r>
            <a:endParaRPr lang="pt-PT" sz="1200" dirty="0" smtClean="0"/>
          </a:p>
        </p:txBody>
      </p:sp>
    </p:spTree>
    <p:extLst>
      <p:ext uri="{BB962C8B-B14F-4D97-AF65-F5344CB8AC3E}">
        <p14:creationId xmlns:p14="http://schemas.microsoft.com/office/powerpoint/2010/main" val="18787635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Polimorfismo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8589" y="901746"/>
            <a:ext cx="3942898" cy="4932362"/>
          </a:xfrm>
        </p:spPr>
        <p:txBody>
          <a:bodyPr>
            <a:noAutofit/>
          </a:bodyPr>
          <a:lstStyle/>
          <a:p>
            <a:r>
              <a:rPr lang="pt-PT" sz="1200" b="1" dirty="0" smtClean="0"/>
              <a:t>public class Animal{</a:t>
            </a:r>
          </a:p>
          <a:p>
            <a:r>
              <a:rPr lang="pt-PT" sz="1200" dirty="0" smtClean="0"/>
              <a:t>	</a:t>
            </a:r>
            <a:r>
              <a:rPr lang="pt-PT" sz="1200" b="1" dirty="0" smtClean="0"/>
              <a:t>public string talk(){ </a:t>
            </a:r>
          </a:p>
          <a:p>
            <a:r>
              <a:rPr lang="pt-PT" sz="1200" b="1" dirty="0"/>
              <a:t>	</a:t>
            </a:r>
            <a:r>
              <a:rPr lang="pt-PT" sz="1200" b="1" dirty="0" smtClean="0"/>
              <a:t>	return “?”;</a:t>
            </a:r>
          </a:p>
          <a:p>
            <a:r>
              <a:rPr lang="pt-PT" sz="1200" dirty="0" smtClean="0"/>
              <a:t>	</a:t>
            </a:r>
            <a:r>
              <a:rPr lang="pt-PT" sz="1200" b="1" dirty="0" smtClean="0"/>
              <a:t>}</a:t>
            </a:r>
          </a:p>
          <a:p>
            <a:r>
              <a:rPr lang="pt-PT" sz="1200" b="1" dirty="0" smtClean="0"/>
              <a:t>}</a:t>
            </a:r>
          </a:p>
          <a:p>
            <a:endParaRPr lang="pt-PT" sz="1200" b="1" dirty="0" smtClean="0"/>
          </a:p>
          <a:p>
            <a:endParaRPr lang="pt-PT" sz="1200" b="1" dirty="0"/>
          </a:p>
          <a:p>
            <a:r>
              <a:rPr lang="pt-PT" sz="1200" b="1" dirty="0"/>
              <a:t>public class </a:t>
            </a:r>
            <a:r>
              <a:rPr lang="pt-PT" sz="1200" b="1" dirty="0" smtClean="0"/>
              <a:t>Cat:Animal{</a:t>
            </a:r>
            <a:endParaRPr lang="pt-PT" sz="1200" b="1" dirty="0"/>
          </a:p>
          <a:p>
            <a:r>
              <a:rPr lang="pt-PT" sz="1200" dirty="0"/>
              <a:t>	</a:t>
            </a:r>
            <a:r>
              <a:rPr lang="pt-PT" sz="1200" b="1" dirty="0"/>
              <a:t>public </a:t>
            </a:r>
            <a:r>
              <a:rPr lang="pt-PT" sz="1200" b="1" dirty="0" smtClean="0"/>
              <a:t>override string </a:t>
            </a:r>
            <a:r>
              <a:rPr lang="pt-PT" sz="1200" b="1" dirty="0"/>
              <a:t>talk(){ </a:t>
            </a:r>
          </a:p>
          <a:p>
            <a:r>
              <a:rPr lang="pt-PT" sz="1200" b="1" dirty="0"/>
              <a:t>		return </a:t>
            </a:r>
            <a:r>
              <a:rPr lang="pt-PT" sz="1200" b="1" dirty="0" smtClean="0"/>
              <a:t>“Meoooow”;</a:t>
            </a:r>
            <a:endParaRPr lang="pt-PT" sz="1200" b="1" dirty="0"/>
          </a:p>
          <a:p>
            <a:r>
              <a:rPr lang="pt-PT" sz="1200" dirty="0"/>
              <a:t>	</a:t>
            </a:r>
            <a:r>
              <a:rPr lang="pt-PT" sz="1200" b="1" dirty="0"/>
              <a:t>}</a:t>
            </a:r>
          </a:p>
          <a:p>
            <a:r>
              <a:rPr lang="pt-PT" sz="1200" b="1" dirty="0" smtClean="0"/>
              <a:t>}</a:t>
            </a:r>
          </a:p>
          <a:p>
            <a:endParaRPr lang="pt-PT" sz="1200" b="1" dirty="0"/>
          </a:p>
          <a:p>
            <a:r>
              <a:rPr lang="pt-PT" sz="1200" b="1" dirty="0"/>
              <a:t>public class </a:t>
            </a:r>
            <a:r>
              <a:rPr lang="pt-PT" sz="1200" b="1" dirty="0" smtClean="0"/>
              <a:t>Dog:Animal</a:t>
            </a:r>
            <a:r>
              <a:rPr lang="pt-PT" sz="1200" b="1" dirty="0"/>
              <a:t>{</a:t>
            </a:r>
          </a:p>
          <a:p>
            <a:r>
              <a:rPr lang="pt-PT" sz="1200" dirty="0"/>
              <a:t>	</a:t>
            </a:r>
            <a:r>
              <a:rPr lang="pt-PT" sz="1200" b="1" dirty="0"/>
              <a:t>public override string talk(){ </a:t>
            </a:r>
          </a:p>
          <a:p>
            <a:r>
              <a:rPr lang="pt-PT" sz="1200" b="1" dirty="0"/>
              <a:t>		return </a:t>
            </a:r>
            <a:r>
              <a:rPr lang="pt-PT" sz="1200" b="1" dirty="0" smtClean="0"/>
              <a:t>“AUUUUUFFF”;</a:t>
            </a:r>
            <a:endParaRPr lang="pt-PT" sz="1200" b="1" dirty="0"/>
          </a:p>
          <a:p>
            <a:r>
              <a:rPr lang="pt-PT" sz="1200" dirty="0"/>
              <a:t>	</a:t>
            </a:r>
            <a:r>
              <a:rPr lang="pt-PT" sz="1200" b="1" dirty="0"/>
              <a:t>}</a:t>
            </a:r>
          </a:p>
          <a:p>
            <a:r>
              <a:rPr lang="pt-PT" sz="1200" b="1" dirty="0"/>
              <a:t>}</a:t>
            </a:r>
          </a:p>
          <a:p>
            <a:endParaRPr lang="pt-PT" sz="1200" b="1" dirty="0"/>
          </a:p>
          <a:p>
            <a:endParaRPr lang="pt-PT" sz="1200" b="1" dirty="0"/>
          </a:p>
          <a:p>
            <a:endParaRPr lang="pt-PT" sz="12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995862" y="2221593"/>
            <a:ext cx="5562599" cy="28729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pt-PT" sz="2100" dirty="0" smtClean="0"/>
              <a:t>/// ... Classe ABC</a:t>
            </a:r>
          </a:p>
          <a:p>
            <a:endParaRPr lang="pt-PT" sz="2100" dirty="0" smtClean="0"/>
          </a:p>
          <a:p>
            <a:r>
              <a:rPr lang="pt-PT" sz="2100" dirty="0" smtClean="0"/>
              <a:t>public static void letItTalk(Animal an){</a:t>
            </a:r>
          </a:p>
          <a:p>
            <a:r>
              <a:rPr lang="pt-PT" sz="2100" dirty="0" smtClean="0"/>
              <a:t>	Console.WriteLine(an.talk());</a:t>
            </a:r>
          </a:p>
          <a:p>
            <a:r>
              <a:rPr lang="pt-PT" sz="2100" dirty="0" smtClean="0"/>
              <a:t>}</a:t>
            </a:r>
          </a:p>
          <a:p>
            <a:endParaRPr lang="pt-PT" sz="2100" dirty="0"/>
          </a:p>
          <a:p>
            <a:endParaRPr lang="pt-PT" sz="2100" dirty="0" smtClean="0"/>
          </a:p>
          <a:p>
            <a:r>
              <a:rPr lang="pt-PT" sz="2100" dirty="0" smtClean="0"/>
              <a:t>ABC.letItTalk(new Dog());</a:t>
            </a:r>
          </a:p>
          <a:p>
            <a:r>
              <a:rPr lang="pt-PT" sz="2100" dirty="0"/>
              <a:t>ABC.letItTalk(new </a:t>
            </a:r>
            <a:r>
              <a:rPr lang="pt-PT" sz="2100" dirty="0" smtClean="0"/>
              <a:t>Cat());</a:t>
            </a:r>
          </a:p>
          <a:p>
            <a:endParaRPr lang="pt-PT" sz="2100" dirty="0"/>
          </a:p>
          <a:p>
            <a:r>
              <a:rPr lang="pt-PT" sz="2100" dirty="0" smtClean="0"/>
              <a:t>ABC.letItTalk(new Animal());</a:t>
            </a:r>
          </a:p>
          <a:p>
            <a:endParaRPr lang="pt-PT" sz="2100" dirty="0" smtClean="0"/>
          </a:p>
        </p:txBody>
      </p:sp>
    </p:spTree>
    <p:extLst>
      <p:ext uri="{BB962C8B-B14F-4D97-AF65-F5344CB8AC3E}">
        <p14:creationId xmlns:p14="http://schemas.microsoft.com/office/powerpoint/2010/main" val="35170574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Abstract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8589" y="901746"/>
            <a:ext cx="3942898" cy="4932362"/>
          </a:xfrm>
        </p:spPr>
        <p:txBody>
          <a:bodyPr>
            <a:noAutofit/>
          </a:bodyPr>
          <a:lstStyle/>
          <a:p>
            <a:r>
              <a:rPr lang="pt-PT" sz="1200" b="1" dirty="0" smtClean="0"/>
              <a:t>public abstract class Animal{</a:t>
            </a:r>
          </a:p>
          <a:p>
            <a:r>
              <a:rPr lang="pt-PT" sz="1200" dirty="0" smtClean="0"/>
              <a:t>	</a:t>
            </a:r>
            <a:r>
              <a:rPr lang="pt-PT" sz="1200" b="1" dirty="0" smtClean="0"/>
              <a:t>public abstract string talk();</a:t>
            </a:r>
          </a:p>
          <a:p>
            <a:r>
              <a:rPr lang="pt-PT" sz="1200" b="1" dirty="0" smtClean="0"/>
              <a:t>}</a:t>
            </a:r>
          </a:p>
          <a:p>
            <a:endParaRPr lang="pt-PT" sz="1200" b="1" dirty="0" smtClean="0"/>
          </a:p>
          <a:p>
            <a:endParaRPr lang="pt-PT" sz="1200" b="1" dirty="0"/>
          </a:p>
          <a:p>
            <a:r>
              <a:rPr lang="pt-PT" sz="1200" b="1" dirty="0"/>
              <a:t>public class </a:t>
            </a:r>
            <a:r>
              <a:rPr lang="pt-PT" sz="1200" b="1" dirty="0" smtClean="0"/>
              <a:t>Cat:Animal{</a:t>
            </a:r>
            <a:endParaRPr lang="pt-PT" sz="1200" b="1" dirty="0"/>
          </a:p>
          <a:p>
            <a:r>
              <a:rPr lang="pt-PT" sz="1200" dirty="0"/>
              <a:t>	</a:t>
            </a:r>
            <a:r>
              <a:rPr lang="pt-PT" sz="1200" b="1" dirty="0"/>
              <a:t>public </a:t>
            </a:r>
            <a:r>
              <a:rPr lang="pt-PT" sz="1200" b="1" dirty="0" smtClean="0"/>
              <a:t>override string </a:t>
            </a:r>
            <a:r>
              <a:rPr lang="pt-PT" sz="1200" b="1" dirty="0"/>
              <a:t>talk(){ </a:t>
            </a:r>
          </a:p>
          <a:p>
            <a:r>
              <a:rPr lang="pt-PT" sz="1200" b="1" dirty="0"/>
              <a:t>		return </a:t>
            </a:r>
            <a:r>
              <a:rPr lang="pt-PT" sz="1200" b="1" dirty="0" smtClean="0"/>
              <a:t>“Meoooow”;</a:t>
            </a:r>
            <a:endParaRPr lang="pt-PT" sz="1200" b="1" dirty="0"/>
          </a:p>
          <a:p>
            <a:r>
              <a:rPr lang="pt-PT" sz="1200" dirty="0"/>
              <a:t>	</a:t>
            </a:r>
            <a:r>
              <a:rPr lang="pt-PT" sz="1200" b="1" dirty="0"/>
              <a:t>}</a:t>
            </a:r>
          </a:p>
          <a:p>
            <a:r>
              <a:rPr lang="pt-PT" sz="1200" b="1" dirty="0" smtClean="0"/>
              <a:t>}</a:t>
            </a:r>
          </a:p>
          <a:p>
            <a:endParaRPr lang="pt-PT" sz="1200" b="1" dirty="0"/>
          </a:p>
          <a:p>
            <a:r>
              <a:rPr lang="pt-PT" sz="1200" b="1" dirty="0"/>
              <a:t>public class </a:t>
            </a:r>
            <a:r>
              <a:rPr lang="pt-PT" sz="1200" b="1" dirty="0" smtClean="0"/>
              <a:t>Dog:Animal</a:t>
            </a:r>
            <a:r>
              <a:rPr lang="pt-PT" sz="1200" b="1" dirty="0"/>
              <a:t>{</a:t>
            </a:r>
          </a:p>
          <a:p>
            <a:r>
              <a:rPr lang="pt-PT" sz="1200" dirty="0"/>
              <a:t>	</a:t>
            </a:r>
            <a:r>
              <a:rPr lang="pt-PT" sz="1200" b="1" dirty="0"/>
              <a:t>public override string talk(){ </a:t>
            </a:r>
          </a:p>
          <a:p>
            <a:r>
              <a:rPr lang="pt-PT" sz="1200" b="1" dirty="0"/>
              <a:t>		return </a:t>
            </a:r>
            <a:r>
              <a:rPr lang="pt-PT" sz="1200" b="1" dirty="0" smtClean="0"/>
              <a:t>“AUUUUUFFF”;</a:t>
            </a:r>
            <a:endParaRPr lang="pt-PT" sz="1200" b="1" dirty="0"/>
          </a:p>
          <a:p>
            <a:r>
              <a:rPr lang="pt-PT" sz="1200" dirty="0"/>
              <a:t>	</a:t>
            </a:r>
            <a:r>
              <a:rPr lang="pt-PT" sz="1200" b="1" dirty="0"/>
              <a:t>}</a:t>
            </a:r>
          </a:p>
          <a:p>
            <a:r>
              <a:rPr lang="pt-PT" sz="1200" b="1" dirty="0"/>
              <a:t>}</a:t>
            </a:r>
          </a:p>
          <a:p>
            <a:endParaRPr lang="pt-PT" sz="1200" b="1" dirty="0"/>
          </a:p>
          <a:p>
            <a:endParaRPr lang="pt-PT" sz="1200" b="1" dirty="0"/>
          </a:p>
          <a:p>
            <a:endParaRPr lang="pt-PT" sz="12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995862" y="2221593"/>
            <a:ext cx="5562599" cy="28729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pt-PT" sz="2100" dirty="0" smtClean="0"/>
              <a:t>/// ... Classe ABC</a:t>
            </a:r>
          </a:p>
          <a:p>
            <a:endParaRPr lang="pt-PT" sz="2100" dirty="0" smtClean="0"/>
          </a:p>
          <a:p>
            <a:r>
              <a:rPr lang="pt-PT" sz="2100" dirty="0" smtClean="0"/>
              <a:t>public static void letItTalk(Animal an){</a:t>
            </a:r>
          </a:p>
          <a:p>
            <a:r>
              <a:rPr lang="pt-PT" sz="2100" dirty="0" smtClean="0"/>
              <a:t>	Console.WriteLine(an.talk());</a:t>
            </a:r>
          </a:p>
          <a:p>
            <a:r>
              <a:rPr lang="pt-PT" sz="2100" dirty="0" smtClean="0"/>
              <a:t>}</a:t>
            </a:r>
          </a:p>
          <a:p>
            <a:endParaRPr lang="pt-PT" sz="2100" dirty="0"/>
          </a:p>
          <a:p>
            <a:endParaRPr lang="pt-PT" sz="2100" dirty="0" smtClean="0"/>
          </a:p>
          <a:p>
            <a:r>
              <a:rPr lang="pt-PT" sz="2100" dirty="0" smtClean="0"/>
              <a:t>ABC.letItTalk(new Dog());</a:t>
            </a:r>
          </a:p>
          <a:p>
            <a:r>
              <a:rPr lang="pt-PT" sz="2100" dirty="0"/>
              <a:t>ABC.letItTalk(new </a:t>
            </a:r>
            <a:r>
              <a:rPr lang="pt-PT" sz="2100" dirty="0" smtClean="0"/>
              <a:t>Cat());</a:t>
            </a:r>
          </a:p>
          <a:p>
            <a:endParaRPr lang="pt-PT" sz="2100" dirty="0"/>
          </a:p>
          <a:p>
            <a:r>
              <a:rPr lang="pt-PT" sz="2100" strike="dblStrike" dirty="0" smtClean="0"/>
              <a:t>ABC.letItTalk(new Animal());</a:t>
            </a:r>
          </a:p>
          <a:p>
            <a:endParaRPr lang="pt-PT" sz="2100" dirty="0" smtClean="0"/>
          </a:p>
        </p:txBody>
      </p:sp>
    </p:spTree>
    <p:extLst>
      <p:ext uri="{BB962C8B-B14F-4D97-AF65-F5344CB8AC3E}">
        <p14:creationId xmlns:p14="http://schemas.microsoft.com/office/powerpoint/2010/main" val="28895033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8588" y="901746"/>
            <a:ext cx="8351611" cy="4932362"/>
          </a:xfrm>
        </p:spPr>
        <p:txBody>
          <a:bodyPr>
            <a:normAutofit fontScale="85000" lnSpcReduction="20000"/>
          </a:bodyPr>
          <a:lstStyle/>
          <a:p>
            <a:r>
              <a:rPr lang="pt-PT" sz="1600" b="1" dirty="0" smtClean="0"/>
              <a:t>1-</a:t>
            </a:r>
            <a:r>
              <a:rPr lang="pt-PT" sz="1600" dirty="0" smtClean="0"/>
              <a:t> Classe </a:t>
            </a:r>
            <a:r>
              <a:rPr lang="pt-PT" sz="1600" b="1" dirty="0" smtClean="0"/>
              <a:t>Curso</a:t>
            </a:r>
            <a:r>
              <a:rPr lang="pt-PT" sz="1600" dirty="0" smtClean="0"/>
              <a:t> 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disciplinas (array string)</a:t>
            </a:r>
          </a:p>
          <a:p>
            <a:r>
              <a:rPr lang="pt-PT" sz="1600" dirty="0" smtClean="0"/>
              <a:t>Métodos: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-adicionarUFCD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-consultarUFCD</a:t>
            </a:r>
          </a:p>
          <a:p>
            <a:r>
              <a:rPr lang="pt-PT" sz="1600" b="1" dirty="0" smtClean="0"/>
              <a:t>2-</a:t>
            </a:r>
            <a:r>
              <a:rPr lang="pt-PT" sz="1600" dirty="0" smtClean="0"/>
              <a:t> Classe </a:t>
            </a:r>
            <a:r>
              <a:rPr lang="pt-PT" sz="1600" b="1" dirty="0" smtClean="0"/>
              <a:t>Pessoa</a:t>
            </a:r>
            <a:r>
              <a:rPr lang="pt-PT" sz="1600" dirty="0" smtClean="0"/>
              <a:t> com atributos: nome, dataNascimento e com os seguintes construtores: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nome;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nome + dataNascimento;</a:t>
            </a:r>
          </a:p>
          <a:p>
            <a:r>
              <a:rPr lang="pt-PT" sz="1600" b="1" dirty="0" smtClean="0"/>
              <a:t>3- </a:t>
            </a:r>
            <a:r>
              <a:rPr lang="pt-PT" sz="1600" dirty="0" smtClean="0"/>
              <a:t>Classe </a:t>
            </a:r>
            <a:r>
              <a:rPr lang="pt-PT" sz="1600" b="1" dirty="0" smtClean="0"/>
              <a:t>Formador</a:t>
            </a:r>
            <a:r>
              <a:rPr lang="pt-PT" sz="1600" dirty="0" smtClean="0"/>
              <a:t> que extende a classe Pessoa mas que permita guardar os atributos adicionais: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entidade (string);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disciplinas (array de strings);</a:t>
            </a:r>
          </a:p>
          <a:p>
            <a:r>
              <a:rPr lang="pt-PT" sz="1600" dirty="0" smtClean="0"/>
              <a:t>	</a:t>
            </a:r>
            <a:r>
              <a:rPr lang="pt-PT" sz="1600" i="1" dirty="0" smtClean="0"/>
              <a:t>Métodos: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adicionarUFCD;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consultarUFCDS </a:t>
            </a:r>
            <a:r>
              <a:rPr lang="pt-PT" sz="1600" i="1" dirty="0" smtClean="0"/>
              <a:t>(devolve uma string concatenada com todas as UFCDs)</a:t>
            </a:r>
            <a:r>
              <a:rPr lang="pt-PT" sz="1600" dirty="0" smtClean="0"/>
              <a:t>;</a:t>
            </a:r>
            <a:endParaRPr lang="pt-PT" sz="1600" dirty="0"/>
          </a:p>
          <a:p>
            <a:r>
              <a:rPr lang="pt-PT" sz="1600" b="1" dirty="0" smtClean="0"/>
              <a:t>4-</a:t>
            </a:r>
            <a:r>
              <a:rPr lang="pt-PT" sz="1600" dirty="0" smtClean="0"/>
              <a:t> Classe </a:t>
            </a:r>
            <a:r>
              <a:rPr lang="pt-PT" sz="1600" b="1" dirty="0" smtClean="0"/>
              <a:t>Aluno</a:t>
            </a:r>
            <a:r>
              <a:rPr lang="pt-PT" sz="1600" dirty="0" smtClean="0"/>
              <a:t> que extende a classe Pessoa mas que permita guardar os atributos adicionais: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numero de aluno(string);</a:t>
            </a:r>
          </a:p>
          <a:p>
            <a:r>
              <a:rPr lang="pt-PT" sz="1600" dirty="0"/>
              <a:t>	</a:t>
            </a:r>
            <a:r>
              <a:rPr lang="pt-PT" sz="1600" dirty="0" smtClean="0"/>
              <a:t>- Curso;</a:t>
            </a:r>
          </a:p>
        </p:txBody>
      </p:sp>
    </p:spTree>
    <p:extLst>
      <p:ext uri="{BB962C8B-B14F-4D97-AF65-F5344CB8AC3E}">
        <p14:creationId xmlns:p14="http://schemas.microsoft.com/office/powerpoint/2010/main" val="192643462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783772"/>
            <a:ext cx="5029200" cy="3200400"/>
          </a:xfrm>
        </p:spPr>
        <p:txBody>
          <a:bodyPr>
            <a:noAutofit/>
          </a:bodyPr>
          <a:lstStyle/>
          <a:p>
            <a:r>
              <a:rPr lang="pt-PT" b="1" dirty="0" smtClean="0"/>
              <a:t>public </a:t>
            </a:r>
            <a:r>
              <a:rPr lang="pt-PT" b="1" dirty="0"/>
              <a:t>abstract class Animal{</a:t>
            </a:r>
          </a:p>
          <a:p>
            <a:r>
              <a:rPr lang="pt-PT" dirty="0"/>
              <a:t>	public </a:t>
            </a:r>
            <a:r>
              <a:rPr lang="pt-PT" dirty="0" smtClean="0"/>
              <a:t>virtual string </a:t>
            </a:r>
            <a:r>
              <a:rPr lang="pt-PT" dirty="0"/>
              <a:t>talk</a:t>
            </a:r>
            <a:r>
              <a:rPr lang="pt-PT" dirty="0" smtClean="0"/>
              <a:t>(){</a:t>
            </a:r>
          </a:p>
          <a:p>
            <a:r>
              <a:rPr lang="pt-PT" dirty="0"/>
              <a:t>	</a:t>
            </a:r>
            <a:r>
              <a:rPr lang="pt-PT" dirty="0" smtClean="0"/>
              <a:t>	return “elou”;</a:t>
            </a:r>
          </a:p>
          <a:p>
            <a:r>
              <a:rPr lang="pt-PT" dirty="0"/>
              <a:t>	</a:t>
            </a:r>
            <a:r>
              <a:rPr lang="pt-PT" dirty="0" smtClean="0"/>
              <a:t>}</a:t>
            </a:r>
            <a:endParaRPr lang="pt-PT" dirty="0"/>
          </a:p>
          <a:p>
            <a:r>
              <a:rPr lang="pt-PT" b="1" dirty="0"/>
              <a:t>}</a:t>
            </a:r>
          </a:p>
          <a:p>
            <a:r>
              <a:rPr lang="pt-PT" b="1" dirty="0" smtClean="0"/>
              <a:t>public </a:t>
            </a:r>
            <a:r>
              <a:rPr lang="pt-PT" b="1" dirty="0"/>
              <a:t>class Cat:Animal{</a:t>
            </a:r>
          </a:p>
          <a:p>
            <a:r>
              <a:rPr lang="pt-PT" dirty="0"/>
              <a:t>	public override string talk(){ </a:t>
            </a:r>
          </a:p>
          <a:p>
            <a:r>
              <a:rPr lang="pt-PT" dirty="0"/>
              <a:t>		return </a:t>
            </a:r>
            <a:r>
              <a:rPr lang="pt-PT" dirty="0" smtClean="0"/>
              <a:t>“miau”;</a:t>
            </a:r>
            <a:endParaRPr lang="pt-PT" dirty="0"/>
          </a:p>
          <a:p>
            <a:r>
              <a:rPr lang="pt-PT" dirty="0"/>
              <a:t>	}</a:t>
            </a:r>
          </a:p>
          <a:p>
            <a:r>
              <a:rPr lang="pt-PT" b="1" dirty="0" smtClean="0"/>
              <a:t>}</a:t>
            </a:r>
          </a:p>
          <a:p>
            <a:endParaRPr lang="pt-PT" dirty="0"/>
          </a:p>
        </p:txBody>
      </p:sp>
      <p:sp>
        <p:nvSpPr>
          <p:cNvPr id="5" name="TextBox 4"/>
          <p:cNvSpPr txBox="1"/>
          <p:nvPr/>
        </p:nvSpPr>
        <p:spPr>
          <a:xfrm>
            <a:off x="4995862" y="783772"/>
            <a:ext cx="5451588" cy="2667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pt-PT" sz="2400" b="1" dirty="0"/>
              <a:t>public class DumbCat:Cat{</a:t>
            </a:r>
          </a:p>
          <a:p>
            <a:r>
              <a:rPr lang="pt-PT" sz="2400" dirty="0"/>
              <a:t>	public </a:t>
            </a:r>
            <a:r>
              <a:rPr lang="pt-PT" sz="2400" dirty="0" smtClean="0"/>
              <a:t>string </a:t>
            </a:r>
            <a:r>
              <a:rPr lang="pt-PT" sz="2400" dirty="0"/>
              <a:t>talk(){ </a:t>
            </a:r>
          </a:p>
          <a:p>
            <a:r>
              <a:rPr lang="pt-PT" sz="2400" dirty="0"/>
              <a:t>		return </a:t>
            </a:r>
            <a:r>
              <a:rPr lang="pt-PT" sz="2400" dirty="0" smtClean="0"/>
              <a:t>“</a:t>
            </a:r>
            <a:r>
              <a:rPr lang="pt-PT" sz="2400" dirty="0"/>
              <a:t>Meoooow</a:t>
            </a:r>
            <a:r>
              <a:rPr lang="pt-PT" sz="2400" dirty="0" smtClean="0"/>
              <a:t>”;</a:t>
            </a:r>
            <a:endParaRPr lang="pt-PT" sz="2400" dirty="0"/>
          </a:p>
          <a:p>
            <a:r>
              <a:rPr lang="pt-PT" sz="2400" dirty="0"/>
              <a:t>	}</a:t>
            </a:r>
          </a:p>
          <a:p>
            <a:r>
              <a:rPr lang="pt-PT" sz="2400" b="1" dirty="0"/>
              <a:t>}</a:t>
            </a:r>
          </a:p>
          <a:p>
            <a:endParaRPr lang="pt-PT" sz="2400" dirty="0"/>
          </a:p>
          <a:p>
            <a:endParaRPr lang="pt-PT" sz="2400" b="1" dirty="0" smtClean="0"/>
          </a:p>
          <a:p>
            <a:r>
              <a:rPr lang="pt-PT" sz="2400" b="1" dirty="0" smtClean="0"/>
              <a:t>public </a:t>
            </a:r>
            <a:r>
              <a:rPr lang="pt-PT" sz="2400" b="1" dirty="0"/>
              <a:t>class Dog:Animal{</a:t>
            </a:r>
          </a:p>
          <a:p>
            <a:r>
              <a:rPr lang="pt-PT" sz="2400" dirty="0"/>
              <a:t>	public override string talk(){ </a:t>
            </a:r>
          </a:p>
          <a:p>
            <a:r>
              <a:rPr lang="pt-PT" sz="2400" dirty="0"/>
              <a:t>		return “AUUUUUFFF”;</a:t>
            </a:r>
          </a:p>
          <a:p>
            <a:r>
              <a:rPr lang="pt-PT" sz="2400" dirty="0"/>
              <a:t>	}</a:t>
            </a:r>
          </a:p>
          <a:p>
            <a:r>
              <a:rPr lang="pt-PT" sz="2400" b="1" dirty="0"/>
              <a:t>}</a:t>
            </a:r>
            <a:endParaRPr lang="pt-PT" sz="2100" b="1" dirty="0" smtClean="0"/>
          </a:p>
        </p:txBody>
      </p:sp>
    </p:spTree>
    <p:extLst>
      <p:ext uri="{BB962C8B-B14F-4D97-AF65-F5344CB8AC3E}">
        <p14:creationId xmlns:p14="http://schemas.microsoft.com/office/powerpoint/2010/main" val="426343659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783771"/>
            <a:ext cx="9627620" cy="5290458"/>
          </a:xfrm>
        </p:spPr>
        <p:txBody>
          <a:bodyPr>
            <a:normAutofit fontScale="85000" lnSpcReduction="20000"/>
          </a:bodyPr>
          <a:lstStyle/>
          <a:p>
            <a:r>
              <a:rPr lang="pt-PT" dirty="0" smtClean="0"/>
              <a:t>Pretende-se modelar um sistema de venda de artigos com as seguintes características:</a:t>
            </a:r>
          </a:p>
          <a:p>
            <a:r>
              <a:rPr lang="pt-PT" dirty="0"/>
              <a:t>	</a:t>
            </a:r>
            <a:r>
              <a:rPr lang="pt-PT" b="1" dirty="0" smtClean="0"/>
              <a:t>-</a:t>
            </a:r>
            <a:r>
              <a:rPr lang="pt-PT" dirty="0" smtClean="0"/>
              <a:t> existem 3 tipos de produtos que são vendidos pelo sistema;</a:t>
            </a:r>
          </a:p>
          <a:p>
            <a:r>
              <a:rPr lang="pt-PT" dirty="0"/>
              <a:t>	</a:t>
            </a:r>
            <a:r>
              <a:rPr lang="pt-PT" b="1" dirty="0" smtClean="0"/>
              <a:t>-</a:t>
            </a:r>
            <a:r>
              <a:rPr lang="pt-PT" dirty="0" smtClean="0"/>
              <a:t> cada produto tem características comuns, tais como código de barras, 	descrição, marca, preço;</a:t>
            </a:r>
          </a:p>
          <a:p>
            <a:r>
              <a:rPr lang="pt-PT" dirty="0"/>
              <a:t>	</a:t>
            </a:r>
            <a:r>
              <a:rPr lang="pt-PT" b="1" dirty="0" smtClean="0"/>
              <a:t>-</a:t>
            </a:r>
            <a:r>
              <a:rPr lang="pt-PT" dirty="0" smtClean="0"/>
              <a:t> o sistema permite vender uma lista de produtos a um cliente e permite 	saber o valor total a pagar;</a:t>
            </a:r>
          </a:p>
          <a:p>
            <a:r>
              <a:rPr lang="pt-PT" dirty="0"/>
              <a:t>	</a:t>
            </a:r>
            <a:r>
              <a:rPr lang="pt-PT" b="1" dirty="0" smtClean="0"/>
              <a:t>-</a:t>
            </a:r>
            <a:r>
              <a:rPr lang="pt-PT" dirty="0" smtClean="0"/>
              <a:t> cada tipo de produto pode apresentar um desconto de campanha (ou não);</a:t>
            </a:r>
          </a:p>
          <a:p>
            <a:r>
              <a:rPr lang="pt-PT" dirty="0"/>
              <a:t>	</a:t>
            </a:r>
            <a:r>
              <a:rPr lang="pt-PT" b="1" dirty="0" smtClean="0"/>
              <a:t>-</a:t>
            </a:r>
            <a:r>
              <a:rPr lang="pt-PT" dirty="0" smtClean="0"/>
              <a:t> cada cliente pode ter um desconto sobre o total da compra efectuada;</a:t>
            </a:r>
          </a:p>
          <a:p>
            <a:r>
              <a:rPr lang="pt-PT" dirty="0"/>
              <a:t>	</a:t>
            </a:r>
            <a:r>
              <a:rPr lang="pt-PT" dirty="0" smtClean="0"/>
              <a:t>- um cliente tem que apresentar os seguintes dados: nome, nif e morada;</a:t>
            </a:r>
            <a:endParaRPr lang="pt-PT" dirty="0"/>
          </a:p>
          <a:p>
            <a:r>
              <a:rPr lang="pt-PT" b="1" dirty="0" smtClean="0"/>
              <a:t>a)</a:t>
            </a:r>
            <a:r>
              <a:rPr lang="pt-PT" dirty="0" smtClean="0"/>
              <a:t> Identifique as entidades, atributos e métodos envolvidas neste sistema e faça o respectivo diagrama de classes;</a:t>
            </a:r>
          </a:p>
          <a:p>
            <a:r>
              <a:rPr lang="pt-PT" b="1" dirty="0" smtClean="0"/>
              <a:t>b)</a:t>
            </a:r>
            <a:r>
              <a:rPr lang="pt-PT" dirty="0" smtClean="0"/>
              <a:t> Implemente as classes e crie um programa exemplo que permita testar este sistema</a:t>
            </a:r>
          </a:p>
          <a:p>
            <a:r>
              <a:rPr lang="pt-PT" b="1" dirty="0" smtClean="0"/>
              <a:t>c)</a:t>
            </a:r>
            <a:r>
              <a:rPr lang="pt-PT" dirty="0" smtClean="0"/>
              <a:t> Implemente as classes criando uma DLL que permita ser reutilizada externamente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236034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Classes – Exercício Interfaces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783772"/>
            <a:ext cx="5029200" cy="3200400"/>
          </a:xfrm>
        </p:spPr>
        <p:txBody>
          <a:bodyPr>
            <a:noAutofit/>
          </a:bodyPr>
          <a:lstStyle/>
          <a:p>
            <a:r>
              <a:rPr lang="pt-PT" b="1" dirty="0" smtClean="0"/>
              <a:t>public </a:t>
            </a:r>
            <a:r>
              <a:rPr lang="pt-PT" b="1" dirty="0"/>
              <a:t>abstract class </a:t>
            </a:r>
            <a:r>
              <a:rPr lang="pt-PT" b="1" dirty="0" smtClean="0"/>
              <a:t>Animal: ITalk{</a:t>
            </a:r>
            <a:endParaRPr lang="pt-PT" b="1" dirty="0"/>
          </a:p>
          <a:p>
            <a:r>
              <a:rPr lang="pt-PT" dirty="0"/>
              <a:t>	public </a:t>
            </a:r>
            <a:r>
              <a:rPr lang="pt-PT" dirty="0" smtClean="0"/>
              <a:t>string </a:t>
            </a:r>
            <a:r>
              <a:rPr lang="pt-PT" dirty="0"/>
              <a:t>talk</a:t>
            </a:r>
            <a:r>
              <a:rPr lang="pt-PT" dirty="0" smtClean="0"/>
              <a:t>(){</a:t>
            </a:r>
          </a:p>
          <a:p>
            <a:r>
              <a:rPr lang="pt-PT" dirty="0"/>
              <a:t>	</a:t>
            </a:r>
            <a:r>
              <a:rPr lang="pt-PT" dirty="0" smtClean="0"/>
              <a:t>	return “elou”;</a:t>
            </a:r>
          </a:p>
          <a:p>
            <a:r>
              <a:rPr lang="pt-PT" dirty="0"/>
              <a:t>	</a:t>
            </a:r>
            <a:r>
              <a:rPr lang="pt-PT" dirty="0" smtClean="0"/>
              <a:t>}</a:t>
            </a:r>
            <a:endParaRPr lang="pt-PT" dirty="0"/>
          </a:p>
          <a:p>
            <a:r>
              <a:rPr lang="pt-PT" b="1" dirty="0"/>
              <a:t>}</a:t>
            </a:r>
          </a:p>
          <a:p>
            <a:r>
              <a:rPr lang="pt-PT" b="1" dirty="0" smtClean="0"/>
              <a:t>public </a:t>
            </a:r>
            <a:r>
              <a:rPr lang="pt-PT" b="1" dirty="0"/>
              <a:t>class Cat:Animal{</a:t>
            </a:r>
          </a:p>
          <a:p>
            <a:r>
              <a:rPr lang="pt-PT" dirty="0"/>
              <a:t>	public </a:t>
            </a:r>
            <a:r>
              <a:rPr lang="pt-PT" dirty="0" smtClean="0"/>
              <a:t>override string </a:t>
            </a:r>
            <a:r>
              <a:rPr lang="pt-PT" dirty="0"/>
              <a:t>talk(){ </a:t>
            </a:r>
          </a:p>
          <a:p>
            <a:r>
              <a:rPr lang="pt-PT" dirty="0"/>
              <a:t>		return </a:t>
            </a:r>
            <a:r>
              <a:rPr lang="pt-PT" dirty="0" smtClean="0"/>
              <a:t>“miau”;</a:t>
            </a:r>
            <a:endParaRPr lang="pt-PT" dirty="0"/>
          </a:p>
          <a:p>
            <a:r>
              <a:rPr lang="pt-PT" dirty="0"/>
              <a:t>	}</a:t>
            </a:r>
          </a:p>
          <a:p>
            <a:r>
              <a:rPr lang="pt-PT" b="1" dirty="0" smtClean="0"/>
              <a:t>}</a:t>
            </a:r>
          </a:p>
          <a:p>
            <a:endParaRPr lang="pt-PT" dirty="0"/>
          </a:p>
        </p:txBody>
      </p:sp>
      <p:sp>
        <p:nvSpPr>
          <p:cNvPr id="5" name="TextBox 4"/>
          <p:cNvSpPr txBox="1"/>
          <p:nvPr/>
        </p:nvSpPr>
        <p:spPr>
          <a:xfrm>
            <a:off x="4995862" y="783772"/>
            <a:ext cx="5451588" cy="2667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pt-PT" sz="2400" b="1" dirty="0"/>
              <a:t>public class DumbCat:Cat{</a:t>
            </a:r>
          </a:p>
          <a:p>
            <a:r>
              <a:rPr lang="pt-PT" sz="2400" dirty="0"/>
              <a:t>	public </a:t>
            </a:r>
            <a:r>
              <a:rPr lang="pt-PT" sz="2400" dirty="0" smtClean="0"/>
              <a:t>override string </a:t>
            </a:r>
            <a:r>
              <a:rPr lang="pt-PT" sz="2400" dirty="0"/>
              <a:t>talk(){ </a:t>
            </a:r>
          </a:p>
          <a:p>
            <a:r>
              <a:rPr lang="pt-PT" sz="2400" dirty="0"/>
              <a:t>		return </a:t>
            </a:r>
            <a:r>
              <a:rPr lang="pt-PT" sz="2400" dirty="0" smtClean="0"/>
              <a:t>“</a:t>
            </a:r>
            <a:r>
              <a:rPr lang="pt-PT" sz="2400" dirty="0"/>
              <a:t>Meoooow</a:t>
            </a:r>
            <a:r>
              <a:rPr lang="pt-PT" sz="2400" dirty="0" smtClean="0"/>
              <a:t>”;</a:t>
            </a:r>
            <a:endParaRPr lang="pt-PT" sz="2400" dirty="0"/>
          </a:p>
          <a:p>
            <a:r>
              <a:rPr lang="pt-PT" sz="2400" dirty="0"/>
              <a:t>	}</a:t>
            </a:r>
          </a:p>
          <a:p>
            <a:r>
              <a:rPr lang="pt-PT" sz="2400" b="1" dirty="0"/>
              <a:t>}</a:t>
            </a:r>
          </a:p>
          <a:p>
            <a:endParaRPr lang="pt-PT" sz="2400" dirty="0"/>
          </a:p>
          <a:p>
            <a:endParaRPr lang="pt-PT" sz="2400" b="1" dirty="0" smtClean="0"/>
          </a:p>
          <a:p>
            <a:r>
              <a:rPr lang="pt-PT" sz="2400" b="1" dirty="0" smtClean="0"/>
              <a:t>public </a:t>
            </a:r>
            <a:r>
              <a:rPr lang="pt-PT" sz="2400" b="1" dirty="0"/>
              <a:t>class Dog:Animal{</a:t>
            </a:r>
          </a:p>
          <a:p>
            <a:r>
              <a:rPr lang="pt-PT" sz="2400" dirty="0"/>
              <a:t>	public override string talk(){ </a:t>
            </a:r>
          </a:p>
          <a:p>
            <a:r>
              <a:rPr lang="pt-PT" sz="2400" dirty="0"/>
              <a:t>		return “AUUUUUFFF”;</a:t>
            </a:r>
          </a:p>
          <a:p>
            <a:r>
              <a:rPr lang="pt-PT" sz="2400" dirty="0"/>
              <a:t>	}</a:t>
            </a:r>
          </a:p>
          <a:p>
            <a:r>
              <a:rPr lang="pt-PT" sz="2400" b="1" dirty="0"/>
              <a:t>}</a:t>
            </a:r>
            <a:endParaRPr lang="pt-PT" sz="2100" b="1" dirty="0" smtClean="0"/>
          </a:p>
        </p:txBody>
      </p:sp>
    </p:spTree>
    <p:extLst>
      <p:ext uri="{BB962C8B-B14F-4D97-AF65-F5344CB8AC3E}">
        <p14:creationId xmlns:p14="http://schemas.microsoft.com/office/powerpoint/2010/main" val="19367741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Projecto – Fase I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783771"/>
            <a:ext cx="8809264" cy="4963885"/>
          </a:xfrm>
        </p:spPr>
        <p:txBody>
          <a:bodyPr>
            <a:normAutofit fontScale="92500" lnSpcReduction="20000"/>
          </a:bodyPr>
          <a:lstStyle/>
          <a:p>
            <a:r>
              <a:rPr lang="pt-PT" dirty="0" smtClean="0"/>
              <a:t>Implementar um Tabuleiro (</a:t>
            </a:r>
            <a:r>
              <a:rPr lang="pt-PT" b="1" i="1" dirty="0" smtClean="0"/>
              <a:t>Board</a:t>
            </a:r>
            <a:r>
              <a:rPr lang="pt-PT" dirty="0" smtClean="0"/>
              <a:t>)</a:t>
            </a:r>
          </a:p>
          <a:p>
            <a:r>
              <a:rPr lang="pt-PT" dirty="0" smtClean="0"/>
              <a:t>	Permitir configurar o tamanho ( passar argumento no construtor)</a:t>
            </a:r>
          </a:p>
          <a:p>
            <a:r>
              <a:rPr lang="pt-PT" dirty="0"/>
              <a:t>	</a:t>
            </a:r>
            <a:r>
              <a:rPr lang="pt-PT" dirty="0" smtClean="0"/>
              <a:t>Cada célula deve ser inicializada a X</a:t>
            </a:r>
          </a:p>
          <a:p>
            <a:r>
              <a:rPr lang="pt-PT" dirty="0" smtClean="0"/>
              <a:t>	Permitir imprimir “</a:t>
            </a:r>
            <a:r>
              <a:rPr lang="pt-PT" b="1" dirty="0" smtClean="0"/>
              <a:t>print</a:t>
            </a:r>
            <a:r>
              <a:rPr lang="pt-PT" dirty="0" smtClean="0"/>
              <a:t>” cada casa (string) (</a:t>
            </a:r>
            <a:r>
              <a:rPr lang="pt-PT" b="1" dirty="0" smtClean="0"/>
              <a:t>IBoard</a:t>
            </a:r>
            <a:r>
              <a:rPr lang="pt-PT" dirty="0" smtClean="0"/>
              <a:t>)</a:t>
            </a:r>
          </a:p>
          <a:p>
            <a:r>
              <a:rPr lang="pt-PT" dirty="0"/>
              <a:t>	</a:t>
            </a:r>
            <a:r>
              <a:rPr lang="pt-PT" dirty="0" smtClean="0"/>
              <a:t>Método “</a:t>
            </a:r>
            <a:r>
              <a:rPr lang="pt-PT" b="1" dirty="0" smtClean="0"/>
              <a:t>getCell</a:t>
            </a:r>
            <a:r>
              <a:rPr lang="pt-PT" dirty="0" smtClean="0"/>
              <a:t>” que deve devolver a Cell que está na line e column fornecidas por argumento (</a:t>
            </a:r>
            <a:r>
              <a:rPr lang="pt-PT" b="1" dirty="0" smtClean="0"/>
              <a:t>IBoard</a:t>
            </a:r>
            <a:r>
              <a:rPr lang="pt-PT" dirty="0" smtClean="0"/>
              <a:t>).</a:t>
            </a:r>
          </a:p>
          <a:p>
            <a:r>
              <a:rPr lang="pt-PT" i="1" dirty="0" smtClean="0"/>
              <a:t>Cada célula deve ser do tipo </a:t>
            </a:r>
            <a:r>
              <a:rPr lang="pt-PT" b="1" i="1" dirty="0" smtClean="0"/>
              <a:t>Cell</a:t>
            </a:r>
            <a:r>
              <a:rPr lang="pt-PT" i="1" dirty="0" smtClean="0"/>
              <a:t> e deve ter os atributos line e column e as properties (apenas get) Line e Column. Para além disso queremos que a Cell tenha também um atributo label e a respectiva property (get apenas).</a:t>
            </a:r>
          </a:p>
          <a:p>
            <a:r>
              <a:rPr lang="pt-PT" i="1" dirty="0" smtClean="0"/>
              <a:t>Cada Cell deve ser criada sempre fornecendo todos os atributos. Deve ser implementado o método toString de forma a devolver a label.</a:t>
            </a:r>
          </a:p>
        </p:txBody>
      </p:sp>
    </p:spTree>
    <p:extLst>
      <p:ext uri="{BB962C8B-B14F-4D97-AF65-F5344CB8AC3E}">
        <p14:creationId xmlns:p14="http://schemas.microsoft.com/office/powerpoint/2010/main" val="8621370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Ficha de avaliação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5060" y="784226"/>
            <a:ext cx="9714705" cy="5812972"/>
          </a:xfrm>
        </p:spPr>
        <p:txBody>
          <a:bodyPr>
            <a:noAutofit/>
          </a:bodyPr>
          <a:lstStyle/>
          <a:p>
            <a:r>
              <a:rPr lang="pt-PT" sz="1800" b="1" dirty="0" smtClean="0"/>
              <a:t>1.</a:t>
            </a:r>
            <a:r>
              <a:rPr lang="pt-PT" sz="1800" dirty="0" smtClean="0"/>
              <a:t> Diga </a:t>
            </a:r>
            <a:r>
              <a:rPr lang="pt-PT" sz="1800" dirty="0"/>
              <a:t>o que entende por Classe</a:t>
            </a:r>
          </a:p>
          <a:p>
            <a:r>
              <a:rPr lang="pt-PT" sz="1800" b="1" dirty="0" smtClean="0"/>
              <a:t>2.</a:t>
            </a:r>
            <a:r>
              <a:rPr lang="pt-PT" sz="1800" dirty="0" smtClean="0"/>
              <a:t> Diga </a:t>
            </a:r>
            <a:r>
              <a:rPr lang="pt-PT" sz="1800" dirty="0"/>
              <a:t>o que entende por Objecto</a:t>
            </a:r>
          </a:p>
          <a:p>
            <a:r>
              <a:rPr lang="pt-PT" sz="1800" b="1" dirty="0" smtClean="0"/>
              <a:t>3.</a:t>
            </a:r>
            <a:r>
              <a:rPr lang="pt-PT" sz="1800" dirty="0" smtClean="0"/>
              <a:t> O </a:t>
            </a:r>
            <a:r>
              <a:rPr lang="pt-PT" sz="1800" dirty="0"/>
              <a:t>que é um Interface</a:t>
            </a:r>
          </a:p>
          <a:p>
            <a:r>
              <a:rPr lang="pt-PT" sz="1800" b="1" dirty="0" smtClean="0"/>
              <a:t>4.</a:t>
            </a:r>
            <a:r>
              <a:rPr lang="pt-PT" sz="1800" dirty="0" smtClean="0"/>
              <a:t> Qual </a:t>
            </a:r>
            <a:r>
              <a:rPr lang="pt-PT" sz="1800" dirty="0"/>
              <a:t>é a diferença entre um Interface e uma classe Abstrata, justifique o mais detalhadamente possível.</a:t>
            </a:r>
          </a:p>
          <a:p>
            <a:r>
              <a:rPr lang="pt-PT" sz="1800" b="1" dirty="0" smtClean="0"/>
              <a:t>5.</a:t>
            </a:r>
            <a:r>
              <a:rPr lang="pt-PT" sz="1800" dirty="0" smtClean="0"/>
              <a:t> Qual </a:t>
            </a:r>
            <a:r>
              <a:rPr lang="pt-PT" sz="1800" dirty="0"/>
              <a:t>a diferença entre um método abstrato e um método virtual, caracterize os dois identificando </a:t>
            </a:r>
            <a:r>
              <a:rPr lang="pt-PT" sz="1800" dirty="0" smtClean="0"/>
              <a:t>as </a:t>
            </a:r>
            <a:r>
              <a:rPr lang="pt-PT" sz="1800" dirty="0"/>
              <a:t>principais diferenças entre eles.</a:t>
            </a:r>
          </a:p>
          <a:p>
            <a:r>
              <a:rPr lang="pt-PT" sz="1800" b="1" dirty="0" smtClean="0"/>
              <a:t>6.</a:t>
            </a:r>
            <a:r>
              <a:rPr lang="pt-PT" sz="1800" dirty="0" smtClean="0"/>
              <a:t> Podemos </a:t>
            </a:r>
            <a:r>
              <a:rPr lang="pt-PT" sz="1800" dirty="0"/>
              <a:t>ter um método abstracto numa classe declarada da seguinte forma? Justifique</a:t>
            </a:r>
          </a:p>
          <a:p>
            <a:r>
              <a:rPr lang="pt-PT" sz="1800" dirty="0" smtClean="0"/>
              <a:t>               public </a:t>
            </a:r>
            <a:r>
              <a:rPr lang="pt-PT" sz="1800" dirty="0"/>
              <a:t>class MyClass { ... </a:t>
            </a:r>
            <a:r>
              <a:rPr lang="pt-PT" sz="1800" dirty="0" smtClean="0"/>
              <a:t>}</a:t>
            </a:r>
          </a:p>
          <a:p>
            <a:r>
              <a:rPr lang="pt-PT" sz="1800" b="1" dirty="0" smtClean="0"/>
              <a:t>7. a) </a:t>
            </a:r>
            <a:r>
              <a:rPr lang="pt-PT" sz="1800" dirty="0" smtClean="0"/>
              <a:t>Esboce </a:t>
            </a:r>
            <a:r>
              <a:rPr lang="pt-PT" sz="1800" dirty="0"/>
              <a:t>um diagrama de classes para o seguinte texto:</a:t>
            </a:r>
          </a:p>
          <a:p>
            <a:r>
              <a:rPr lang="pt-PT" sz="1800" dirty="0" smtClean="0"/>
              <a:t>       Um </a:t>
            </a:r>
            <a:r>
              <a:rPr lang="pt-PT" sz="1800" dirty="0"/>
              <a:t>ponto em 2D descreve-se mediante duas caraterísticas principais, a sua coordenada x e a y. </a:t>
            </a:r>
            <a:r>
              <a:rPr lang="pt-PT" sz="1800" dirty="0" smtClean="0"/>
              <a:t>No </a:t>
            </a:r>
            <a:r>
              <a:rPr lang="pt-PT" sz="1800" dirty="0"/>
              <a:t>entanto um ponto em 3D descreve-se com a característica adicional z.</a:t>
            </a:r>
          </a:p>
          <a:p>
            <a:r>
              <a:rPr lang="pt-PT" sz="1800" dirty="0" smtClean="0"/>
              <a:t>       Uma </a:t>
            </a:r>
            <a:r>
              <a:rPr lang="pt-PT" sz="1800" dirty="0"/>
              <a:t>linha é representada por dois pontos 2D</a:t>
            </a:r>
            <a:r>
              <a:rPr lang="pt-PT" sz="1800" dirty="0" smtClean="0"/>
              <a:t>.</a:t>
            </a:r>
          </a:p>
          <a:p>
            <a:r>
              <a:rPr lang="pt-PT" sz="1800" b="1" dirty="0" smtClean="0"/>
              <a:t>7. b)</a:t>
            </a:r>
            <a:r>
              <a:rPr lang="pt-PT" sz="1800" dirty="0" smtClean="0"/>
              <a:t> Implemente </a:t>
            </a:r>
            <a:r>
              <a:rPr lang="pt-PT" sz="1800" dirty="0"/>
              <a:t>as classes descritas acima, expondo apenas properties com o acessor get</a:t>
            </a:r>
            <a:r>
              <a:rPr lang="pt-PT" sz="1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38776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Projecto – Exercício auxiliar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783771"/>
            <a:ext cx="8809264" cy="5562600"/>
          </a:xfrm>
        </p:spPr>
        <p:txBody>
          <a:bodyPr>
            <a:normAutofit fontScale="62500" lnSpcReduction="20000"/>
          </a:bodyPr>
          <a:lstStyle/>
          <a:p>
            <a:r>
              <a:rPr lang="pt-PT" dirty="0" smtClean="0"/>
              <a:t>Recorrendo às classes utilizadas na aula anterior, implemente um jogo de sokoban em que permita ter 4 tipos de peças:</a:t>
            </a:r>
          </a:p>
          <a:p>
            <a:r>
              <a:rPr lang="pt-PT" b="1" dirty="0" smtClean="0"/>
              <a:t>Hero</a:t>
            </a:r>
            <a:r>
              <a:rPr lang="pt-PT" dirty="0" smtClean="0"/>
              <a:t> – Personagem heróica que se pode movimentar uma casa de cada vez, para cada um dos lados (cima, baixo, esquerda ou direita)</a:t>
            </a:r>
          </a:p>
          <a:p>
            <a:r>
              <a:rPr lang="pt-PT" b="1" dirty="0" smtClean="0"/>
              <a:t>Princess</a:t>
            </a:r>
            <a:r>
              <a:rPr lang="pt-PT" dirty="0" smtClean="0"/>
              <a:t> – Personagem que não se pode deslocar, a menos que por intermédio do </a:t>
            </a:r>
            <a:r>
              <a:rPr lang="pt-PT" i="1" dirty="0" smtClean="0"/>
              <a:t>Hero</a:t>
            </a:r>
          </a:p>
          <a:p>
            <a:r>
              <a:rPr lang="pt-PT" b="1" dirty="0" smtClean="0"/>
              <a:t>Wall</a:t>
            </a:r>
            <a:r>
              <a:rPr lang="pt-PT" dirty="0" smtClean="0"/>
              <a:t> – Bloco imóvel em que não permite que ninguém se desloque para cima deste</a:t>
            </a:r>
          </a:p>
          <a:p>
            <a:r>
              <a:rPr lang="pt-PT" b="1" dirty="0" smtClean="0"/>
              <a:t>Exit</a:t>
            </a:r>
            <a:r>
              <a:rPr lang="pt-PT" dirty="0" smtClean="0"/>
              <a:t> – Bloco de saída, não se pode mover, se a Princess se mover para este bloco, termina o jogo</a:t>
            </a:r>
          </a:p>
          <a:p>
            <a:endParaRPr lang="pt-PT" dirty="0" smtClean="0"/>
          </a:p>
          <a:p>
            <a:r>
              <a:rPr lang="pt-PT" dirty="0" smtClean="0"/>
              <a:t>Crie uma classe </a:t>
            </a:r>
            <a:r>
              <a:rPr lang="pt-PT" b="1" i="1" dirty="0" smtClean="0"/>
              <a:t>Sokoban</a:t>
            </a:r>
            <a:r>
              <a:rPr lang="pt-PT" dirty="0" smtClean="0"/>
              <a:t> que permita ter os seguintes métodos:  </a:t>
            </a:r>
          </a:p>
          <a:p>
            <a:pPr marL="342900" indent="-342900">
              <a:buFontTx/>
              <a:buChar char="-"/>
            </a:pPr>
            <a:r>
              <a:rPr lang="pt-PT" dirty="0" smtClean="0"/>
              <a:t>... </a:t>
            </a:r>
            <a:r>
              <a:rPr lang="pt-PT" b="1" i="1" dirty="0" smtClean="0"/>
              <a:t>generateRandom</a:t>
            </a:r>
            <a:r>
              <a:rPr lang="pt-PT" dirty="0" smtClean="0"/>
              <a:t>( ... ); - permite criar um tabuleiro,criar e posicionar as personagens;</a:t>
            </a:r>
          </a:p>
          <a:p>
            <a:pPr marL="342900" indent="-342900">
              <a:buFontTx/>
              <a:buChar char="-"/>
            </a:pPr>
            <a:r>
              <a:rPr lang="pt-PT" b="1" i="1" u="sng" dirty="0" smtClean="0">
                <a:solidFill>
                  <a:srgbClr val="0070C0"/>
                </a:solidFill>
              </a:rPr>
              <a:t>MoveType</a:t>
            </a:r>
            <a:r>
              <a:rPr lang="pt-PT" dirty="0" smtClean="0"/>
              <a:t> </a:t>
            </a:r>
            <a:r>
              <a:rPr lang="pt-PT" b="1" i="1" dirty="0" smtClean="0"/>
              <a:t>placeMove</a:t>
            </a:r>
            <a:r>
              <a:rPr lang="pt-PT" dirty="0" smtClean="0"/>
              <a:t>(</a:t>
            </a:r>
            <a:r>
              <a:rPr lang="pt-PT" b="1" i="1" u="sng" dirty="0" smtClean="0">
                <a:solidFill>
                  <a:srgbClr val="C82D20"/>
                </a:solidFill>
              </a:rPr>
              <a:t>KeyPressed</a:t>
            </a:r>
            <a:r>
              <a:rPr lang="pt-PT" dirty="0" smtClean="0"/>
              <a:t> key);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KeyPressed =&gt; enum com as teclas (investigar o nome correto)</a:t>
            </a:r>
          </a:p>
          <a:p>
            <a:pPr marL="609600" lvl="1" indent="-342900">
              <a:buFontTx/>
              <a:buChar char="-"/>
            </a:pPr>
            <a:r>
              <a:rPr lang="pt-PT" dirty="0" smtClean="0"/>
              <a:t>MoveType =&gt; criar um enum com os seguintes valores ( JogadaOK, JogadaNOK, Won )</a:t>
            </a:r>
            <a:endParaRPr lang="pt-PT" dirty="0"/>
          </a:p>
          <a:p>
            <a:pPr lvl="1" indent="0">
              <a:buNone/>
            </a:pPr>
            <a:endParaRPr lang="pt-PT" dirty="0" smtClean="0"/>
          </a:p>
          <a:p>
            <a:r>
              <a:rPr lang="pt-PT" sz="3000" dirty="0" smtClean="0"/>
              <a:t>Cria </a:t>
            </a:r>
            <a:r>
              <a:rPr lang="pt-PT" sz="3000" smtClean="0"/>
              <a:t>uma DLL </a:t>
            </a:r>
            <a:r>
              <a:rPr lang="pt-PT" sz="3000" dirty="0" smtClean="0"/>
              <a:t>chamada MySokoban e utilize essa DLL numa console application. Esta DLL deve referenciar a DLL que criaram nas aulas anteriores</a:t>
            </a:r>
            <a:endParaRPr lang="pt-PT" sz="3000" dirty="0"/>
          </a:p>
        </p:txBody>
      </p:sp>
    </p:spTree>
    <p:extLst>
      <p:ext uri="{BB962C8B-B14F-4D97-AF65-F5344CB8AC3E}">
        <p14:creationId xmlns:p14="http://schemas.microsoft.com/office/powerpoint/2010/main" val="24700765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Projecto – Fase I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6" y="783771"/>
            <a:ext cx="8809264" cy="4963885"/>
          </a:xfrm>
        </p:spPr>
        <p:txBody>
          <a:bodyPr>
            <a:normAutofit fontScale="77500" lnSpcReduction="20000"/>
          </a:bodyPr>
          <a:lstStyle/>
          <a:p>
            <a:r>
              <a:rPr lang="pt-PT" dirty="0" smtClean="0"/>
              <a:t>Considerando os seguintes dados adicionais, implemente/altere as classes necessárias: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Uma peça tem uma determinada cor;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Uma peça está numa determinada localização do tabuleiro;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No xadrez cada tipo de peça tem um movimento possível, dependendo do tipo de peça que é, dependendo também de onde está e para onde vai;</a:t>
            </a:r>
          </a:p>
          <a:p>
            <a:pPr marL="990600" lvl="2" indent="-457200">
              <a:buFont typeface="+mj-lt"/>
              <a:buAutoNum type="arabicPeriod"/>
            </a:pPr>
            <a:r>
              <a:rPr lang="pt-PT" dirty="0" smtClean="0"/>
              <a:t>Captura en-passant</a:t>
            </a:r>
          </a:p>
          <a:p>
            <a:pPr marL="990600" lvl="2" indent="-457200">
              <a:buFont typeface="+mj-lt"/>
              <a:buAutoNum type="arabicPeriod"/>
            </a:pPr>
            <a:r>
              <a:rPr lang="pt-PT" dirty="0" smtClean="0"/>
              <a:t>Castle king side, Castle queen side;</a:t>
            </a:r>
          </a:p>
          <a:p>
            <a:pPr marL="990600" lvl="2" indent="-457200">
              <a:buFont typeface="+mj-lt"/>
              <a:buAutoNum type="arabicPeriod"/>
            </a:pPr>
            <a:r>
              <a:rPr lang="pt-PT" dirty="0" smtClean="0"/>
              <a:t>Chequemate;</a:t>
            </a:r>
          </a:p>
          <a:p>
            <a:pPr marL="990600" lvl="2" indent="-457200">
              <a:buFont typeface="+mj-lt"/>
              <a:buAutoNum type="arabicPeriod"/>
            </a:pPr>
            <a:r>
              <a:rPr lang="pt-PT" dirty="0" smtClean="0"/>
              <a:t>Stalemate;</a:t>
            </a:r>
          </a:p>
          <a:p>
            <a:pPr marL="990600" lvl="2" indent="-457200">
              <a:buFont typeface="+mj-lt"/>
              <a:buAutoNum type="arabicPeriod"/>
            </a:pPr>
            <a:r>
              <a:rPr lang="pt-PT" dirty="0" smtClean="0"/>
              <a:t>Promotion;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Um jogo de xadrez é composto por um tabuleiro com uma disposição inicial de peças e por dois jogadores;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No xadrez os jogadores identificam-se por “jogador com peças brancas” e “jogador com peças pretas”;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O jogo inicia-se com o jogador das peças brancas;</a:t>
            </a:r>
          </a:p>
        </p:txBody>
      </p:sp>
    </p:spTree>
    <p:extLst>
      <p:ext uri="{BB962C8B-B14F-4D97-AF65-F5344CB8AC3E}">
        <p14:creationId xmlns:p14="http://schemas.microsoft.com/office/powerpoint/2010/main" val="42134189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Projecto III – ACME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5" y="783771"/>
            <a:ext cx="9535886" cy="5562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PT" sz="1600" dirty="0"/>
              <a:t>A ACME </a:t>
            </a:r>
            <a:r>
              <a:rPr lang="pt-PT" sz="1600" dirty="0" smtClean="0"/>
              <a:t>é uma empresa de aluguer de filmes que pretende automatizar um processo crítico do negócio que dispõem. Este </a:t>
            </a:r>
            <a:r>
              <a:rPr lang="pt-PT" sz="1600" dirty="0"/>
              <a:t>processo </a:t>
            </a:r>
            <a:r>
              <a:rPr lang="pt-PT" sz="1600" dirty="0" smtClean="0"/>
              <a:t>consiste num cliente que, após </a:t>
            </a:r>
            <a:r>
              <a:rPr lang="pt-PT" sz="1600" dirty="0"/>
              <a:t>ter escolhido </a:t>
            </a:r>
            <a:r>
              <a:rPr lang="pt-PT" sz="1600" dirty="0" smtClean="0"/>
              <a:t>os filmes </a:t>
            </a:r>
            <a:r>
              <a:rPr lang="pt-PT" sz="1600" dirty="0"/>
              <a:t>que deseja, </a:t>
            </a:r>
            <a:r>
              <a:rPr lang="pt-PT" sz="1600" dirty="0" smtClean="0"/>
              <a:t>apresenta-se a um dos balcões de atendimento. O funcionário </a:t>
            </a:r>
            <a:r>
              <a:rPr lang="pt-PT" sz="1600" dirty="0"/>
              <a:t>responsável irá solicitar o número do cartão de </a:t>
            </a:r>
            <a:r>
              <a:rPr lang="pt-PT" sz="1600" dirty="0" smtClean="0"/>
              <a:t>sócio </a:t>
            </a:r>
            <a:r>
              <a:rPr lang="pt-PT" sz="1600" dirty="0"/>
              <a:t>do cliente e </a:t>
            </a:r>
            <a:r>
              <a:rPr lang="pt-PT" sz="1600" dirty="0" smtClean="0"/>
              <a:t>depois registará os itens que ele pretende alugar.</a:t>
            </a:r>
          </a:p>
          <a:p>
            <a:pPr algn="just"/>
            <a:r>
              <a:rPr lang="pt-PT" sz="1600" dirty="0" smtClean="0"/>
              <a:t>Os clientes da ACME devem estar registados como sócios antes </a:t>
            </a:r>
            <a:r>
              <a:rPr lang="pt-PT" sz="1600" dirty="0"/>
              <a:t>de poderem efetuar </a:t>
            </a:r>
            <a:r>
              <a:rPr lang="pt-PT" sz="1600" dirty="0" smtClean="0"/>
              <a:t>qualquer aluguer. As seguintes informações são obrigatórias: nome</a:t>
            </a:r>
            <a:r>
              <a:rPr lang="pt-PT" sz="1600" dirty="0"/>
              <a:t>, endereço e </a:t>
            </a:r>
            <a:r>
              <a:rPr lang="pt-PT" sz="1600" dirty="0" smtClean="0"/>
              <a:t>telefone; para além disso cada cliente possui </a:t>
            </a:r>
            <a:r>
              <a:rPr lang="pt-PT" sz="1600" dirty="0"/>
              <a:t>um </a:t>
            </a:r>
            <a:r>
              <a:rPr lang="pt-PT" sz="1600" dirty="0" smtClean="0"/>
              <a:t>número de sócio único.</a:t>
            </a:r>
          </a:p>
          <a:p>
            <a:pPr algn="just"/>
            <a:r>
              <a:rPr lang="pt-PT" sz="1600" dirty="0" smtClean="0"/>
              <a:t>Quando uma reserva é efetivada é atribuído um número de reserva que será, mais tarde, utilizada para manter o controlo da mesma. A </a:t>
            </a:r>
            <a:r>
              <a:rPr lang="pt-PT" sz="1600" dirty="0"/>
              <a:t>efetivação de </a:t>
            </a:r>
            <a:r>
              <a:rPr lang="pt-PT" sz="1600" dirty="0" smtClean="0"/>
              <a:t>um aluguer contém as seguintes informações : </a:t>
            </a:r>
            <a:r>
              <a:rPr lang="pt-PT" sz="1600" dirty="0"/>
              <a:t>data de início, o cliente que </a:t>
            </a:r>
            <a:r>
              <a:rPr lang="pt-PT" sz="1600" dirty="0" smtClean="0"/>
              <a:t>a solicitou </a:t>
            </a:r>
            <a:r>
              <a:rPr lang="pt-PT" sz="1600" dirty="0"/>
              <a:t>e uma lista dos </a:t>
            </a:r>
            <a:r>
              <a:rPr lang="pt-PT" sz="1600" dirty="0" smtClean="0"/>
              <a:t>itens alugados.</a:t>
            </a:r>
          </a:p>
          <a:p>
            <a:pPr algn="just"/>
            <a:r>
              <a:rPr lang="pt-PT" sz="1600" dirty="0" smtClean="0"/>
              <a:t>Para cada item alugado controlamos a data em que deve ser devolvido e a data em que efetivamente foi devolvido. A </a:t>
            </a:r>
            <a:r>
              <a:rPr lang="pt-PT" sz="1600" dirty="0"/>
              <a:t>data de devolução é dependente </a:t>
            </a:r>
            <a:r>
              <a:rPr lang="pt-PT" sz="1600" dirty="0" smtClean="0"/>
              <a:t>do número de dias em que um item pode </a:t>
            </a:r>
            <a:r>
              <a:rPr lang="pt-PT" sz="1600" dirty="0"/>
              <a:t>permanecer </a:t>
            </a:r>
            <a:r>
              <a:rPr lang="pt-PT" sz="1600" dirty="0" smtClean="0"/>
              <a:t>alugado, </a:t>
            </a:r>
            <a:r>
              <a:rPr lang="pt-PT" sz="1600" dirty="0"/>
              <a:t>sendo assim, cada item pode ter uma data diferente</a:t>
            </a:r>
            <a:r>
              <a:rPr lang="pt-PT" sz="1600" dirty="0" smtClean="0"/>
              <a:t>.</a:t>
            </a:r>
          </a:p>
          <a:p>
            <a:pPr algn="just"/>
            <a:r>
              <a:rPr lang="pt-PT" sz="1600" dirty="0" smtClean="0"/>
              <a:t>Os </a:t>
            </a:r>
            <a:r>
              <a:rPr lang="pt-PT" sz="1600" dirty="0"/>
              <a:t>itens para </a:t>
            </a:r>
            <a:r>
              <a:rPr lang="pt-PT" sz="1600" dirty="0" smtClean="0"/>
              <a:t>aluguer atualmente são apenas DVD’s </a:t>
            </a:r>
            <a:r>
              <a:rPr lang="pt-PT" sz="1600" dirty="0"/>
              <a:t>de </a:t>
            </a:r>
            <a:r>
              <a:rPr lang="pt-PT" sz="1600" dirty="0" smtClean="0"/>
              <a:t>filmes. </a:t>
            </a:r>
            <a:r>
              <a:rPr lang="pt-PT" sz="1600" dirty="0"/>
              <a:t>Mas </a:t>
            </a:r>
            <a:r>
              <a:rPr lang="pt-PT" sz="1600" dirty="0" smtClean="0"/>
              <a:t>pretendem alugar, em breve, jogos </a:t>
            </a:r>
            <a:r>
              <a:rPr lang="pt-PT" sz="1600" dirty="0"/>
              <a:t>e </a:t>
            </a:r>
            <a:r>
              <a:rPr lang="pt-PT" sz="1600" dirty="0" smtClean="0"/>
              <a:t>DVDs de conteúdos. Cada </a:t>
            </a:r>
            <a:r>
              <a:rPr lang="pt-PT" sz="1600" dirty="0"/>
              <a:t>item para </a:t>
            </a:r>
            <a:r>
              <a:rPr lang="pt-PT" sz="1600" dirty="0" smtClean="0"/>
              <a:t>aluguer tem </a:t>
            </a:r>
            <a:r>
              <a:rPr lang="pt-PT" sz="1600" dirty="0"/>
              <a:t>as seguintes </a:t>
            </a:r>
            <a:r>
              <a:rPr lang="pt-PT" sz="1600" dirty="0" smtClean="0"/>
              <a:t>informações: preço </a:t>
            </a:r>
            <a:r>
              <a:rPr lang="pt-PT" sz="1600" dirty="0"/>
              <a:t>do </a:t>
            </a:r>
            <a:r>
              <a:rPr lang="pt-PT" sz="1600" dirty="0" smtClean="0"/>
              <a:t>aluguer, número </a:t>
            </a:r>
            <a:r>
              <a:rPr lang="pt-PT" sz="1600" dirty="0"/>
              <a:t>de dias que </a:t>
            </a:r>
            <a:r>
              <a:rPr lang="pt-PT" sz="1600" dirty="0" smtClean="0"/>
              <a:t>pode permanecer </a:t>
            </a:r>
            <a:r>
              <a:rPr lang="pt-PT" sz="1600" dirty="0"/>
              <a:t>emprestado, o título do </a:t>
            </a:r>
            <a:r>
              <a:rPr lang="pt-PT" sz="1600" dirty="0" smtClean="0"/>
              <a:t>filme, uma </a:t>
            </a:r>
            <a:r>
              <a:rPr lang="pt-PT" sz="1600" dirty="0"/>
              <a:t>breve descrição (sinopse) e uma categoria (ação, aventura, </a:t>
            </a:r>
            <a:r>
              <a:rPr lang="pt-PT" sz="1600" dirty="0" smtClean="0"/>
              <a:t>etc).</a:t>
            </a:r>
          </a:p>
          <a:p>
            <a:pPr algn="just"/>
            <a:r>
              <a:rPr lang="pt-PT" sz="1600" dirty="0" smtClean="0"/>
              <a:t>As seguintes alíneas devem ser realizadas em papel </a:t>
            </a:r>
            <a:r>
              <a:rPr lang="pt-PT" sz="2200" b="1" u="sng" dirty="0" smtClean="0"/>
              <a:t>apenas</a:t>
            </a:r>
            <a:r>
              <a:rPr lang="pt-PT" sz="1600" dirty="0" smtClean="0"/>
              <a:t>:</a:t>
            </a:r>
          </a:p>
          <a:p>
            <a:pPr algn="just"/>
            <a:r>
              <a:rPr lang="pt-PT" sz="1600" b="1" dirty="0" smtClean="0"/>
              <a:t>1º</a:t>
            </a:r>
            <a:r>
              <a:rPr lang="pt-PT" sz="1600" dirty="0" smtClean="0"/>
              <a:t> Identifique as classes que compõe o negócio da ACME, escreva uma breve identificação para as classes de forma a demonstrar a sua relevância;</a:t>
            </a:r>
          </a:p>
          <a:p>
            <a:pPr algn="just"/>
            <a:r>
              <a:rPr lang="pt-PT" sz="1600" b="1" dirty="0" smtClean="0"/>
              <a:t>2º</a:t>
            </a:r>
            <a:r>
              <a:rPr lang="pt-PT" sz="1600" dirty="0" smtClean="0"/>
              <a:t> Identifique os atributos das classes identificadas (atributos podem ser do tipo de classes identificadas);</a:t>
            </a:r>
          </a:p>
          <a:p>
            <a:pPr algn="just"/>
            <a:r>
              <a:rPr lang="pt-PT" sz="1600" b="1" dirty="0" smtClean="0"/>
              <a:t>3º</a:t>
            </a:r>
            <a:r>
              <a:rPr lang="pt-PT" sz="1600" dirty="0" smtClean="0"/>
              <a:t> Identifique alguns métodos relevantes para as entidades.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12870954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Projecto III – ACME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5" y="783771"/>
            <a:ext cx="9535886" cy="5562600"/>
          </a:xfrm>
        </p:spPr>
        <p:txBody>
          <a:bodyPr>
            <a:normAutofit fontScale="92500"/>
          </a:bodyPr>
          <a:lstStyle/>
          <a:p>
            <a:pPr algn="just"/>
            <a:r>
              <a:rPr lang="pt-PT" sz="1600" b="1" dirty="0" smtClean="0"/>
              <a:t>Cliente</a:t>
            </a:r>
            <a:r>
              <a:rPr lang="pt-PT" sz="1600" dirty="0" smtClean="0"/>
              <a:t>[nome, endereco, telefone, numSocio]   </a:t>
            </a:r>
            <a:r>
              <a:rPr lang="pt-PT" sz="1600" b="1" dirty="0" smtClean="0"/>
              <a:t>Item</a:t>
            </a:r>
            <a:r>
              <a:rPr lang="pt-PT" sz="1600" dirty="0" smtClean="0"/>
              <a:t> (preco, numDias, descricao </a:t>
            </a:r>
            <a:r>
              <a:rPr lang="pt-PT" sz="1600" b="1" dirty="0" smtClean="0"/>
              <a:t>DVDFilme</a:t>
            </a:r>
            <a:r>
              <a:rPr lang="pt-PT" sz="1600" dirty="0" smtClean="0"/>
              <a:t>[sinopse, categoria]</a:t>
            </a:r>
          </a:p>
          <a:p>
            <a:pPr algn="just"/>
            <a:r>
              <a:rPr lang="pt-PT" sz="1600" b="1" dirty="0" smtClean="0"/>
              <a:t>Aluguer</a:t>
            </a:r>
            <a:r>
              <a:rPr lang="pt-PT" sz="1600" dirty="0" smtClean="0"/>
              <a:t>[Cliente, dataInicio, numReserva, itensAlugados]  </a:t>
            </a:r>
            <a:r>
              <a:rPr lang="pt-PT" sz="1600" b="1" dirty="0" smtClean="0"/>
              <a:t>ItemAlugado</a:t>
            </a:r>
            <a:r>
              <a:rPr lang="pt-PT" sz="1600" dirty="0" smtClean="0"/>
              <a:t>[dataPrevista, dataReal]</a:t>
            </a:r>
            <a:r>
              <a:rPr lang="pt-PT" sz="1600" b="1" dirty="0" smtClean="0"/>
              <a:t>: Item</a:t>
            </a:r>
            <a:endParaRPr lang="pt-PT" sz="1600" b="1" dirty="0" smtClean="0"/>
          </a:p>
          <a:p>
            <a:pPr algn="just"/>
            <a:r>
              <a:rPr lang="pt-PT" sz="1600" dirty="0" smtClean="0"/>
              <a:t>As </a:t>
            </a:r>
            <a:r>
              <a:rPr lang="pt-PT" sz="1600" dirty="0" smtClean="0"/>
              <a:t>seguintes alíneas devem ser realizadas no IDE, testando sempre na console application (e mantendo os testes efectuados guardados):</a:t>
            </a:r>
          </a:p>
          <a:p>
            <a:pPr algn="just"/>
            <a:r>
              <a:rPr lang="pt-PT" sz="1600" b="1" dirty="0"/>
              <a:t>4</a:t>
            </a:r>
            <a:r>
              <a:rPr lang="pt-PT" sz="1600" b="1" dirty="0" smtClean="0"/>
              <a:t>º</a:t>
            </a:r>
            <a:r>
              <a:rPr lang="pt-PT" sz="1600" dirty="0" smtClean="0"/>
              <a:t> Crie um projeto com o nome ACMERenting com o tipo DLL e </a:t>
            </a:r>
            <a:r>
              <a:rPr lang="pt-PT" sz="1600" dirty="0" smtClean="0"/>
              <a:t>um outro projeto com o tipo </a:t>
            </a:r>
            <a:r>
              <a:rPr lang="pt-PT" sz="1600" dirty="0" smtClean="0"/>
              <a:t>console application;</a:t>
            </a:r>
          </a:p>
          <a:p>
            <a:pPr algn="just"/>
            <a:r>
              <a:rPr lang="pt-PT" sz="1600" b="1" dirty="0" smtClean="0"/>
              <a:t>5º </a:t>
            </a:r>
            <a:r>
              <a:rPr lang="pt-PT" sz="1600" dirty="0" smtClean="0"/>
              <a:t>Crie a classe Cliente de forma a que esta possa ser </a:t>
            </a:r>
            <a:r>
              <a:rPr lang="pt-PT" sz="1600" dirty="0" smtClean="0"/>
              <a:t>instanciada, </a:t>
            </a:r>
            <a:r>
              <a:rPr lang="pt-PT" sz="1600" dirty="0" smtClean="0"/>
              <a:t>garanta que adiciona um construtor vazio e adicione os atributos identificados à classe. Adicione também métodos get e set (utilize o padrão getAtrX e setAtrY</a:t>
            </a:r>
            <a:r>
              <a:rPr lang="pt-PT" sz="1600" dirty="0" smtClean="0"/>
              <a:t>)</a:t>
            </a:r>
          </a:p>
          <a:p>
            <a:pPr algn="just"/>
            <a:r>
              <a:rPr lang="pt-PT" sz="1600" b="1" dirty="0" smtClean="0"/>
              <a:t>6º </a:t>
            </a:r>
            <a:r>
              <a:rPr lang="pt-PT" sz="1600" dirty="0" smtClean="0"/>
              <a:t>Faça override do tostring de forma a devolver uma string com os atributos concatenados na forma “&lt;nome_atributo&gt; = &lt;valor_atributo&gt;, ... “.</a:t>
            </a:r>
          </a:p>
          <a:p>
            <a:pPr algn="just"/>
            <a:r>
              <a:rPr lang="pt-PT" sz="1600" b="1" dirty="0" smtClean="0"/>
              <a:t>7º</a:t>
            </a:r>
            <a:r>
              <a:rPr lang="pt-PT" sz="1600" dirty="0" smtClean="0"/>
              <a:t> </a:t>
            </a:r>
            <a:r>
              <a:rPr lang="pt-PT" sz="1600" dirty="0" smtClean="0"/>
              <a:t>Crie a classe Item como pública sem construtor, defina os seus atributos privados e métodos get e set para todos os </a:t>
            </a:r>
            <a:r>
              <a:rPr lang="pt-PT" sz="1600" dirty="0" smtClean="0"/>
              <a:t>atributos</a:t>
            </a:r>
            <a:endParaRPr lang="pt-PT" sz="1000" dirty="0" smtClean="0"/>
          </a:p>
          <a:p>
            <a:pPr algn="just"/>
            <a:r>
              <a:rPr lang="pt-PT" sz="1600" b="1" dirty="0" smtClean="0"/>
              <a:t>8º</a:t>
            </a:r>
            <a:r>
              <a:rPr lang="pt-PT" sz="1600" dirty="0" smtClean="0"/>
              <a:t> Override do tostring do Item para apresentar o mesmo formato “nome_atributo = valor_atributo, “ para os atributos titulo, descricao e categoria.</a:t>
            </a:r>
          </a:p>
          <a:p>
            <a:pPr algn="just"/>
            <a:r>
              <a:rPr lang="pt-PT" sz="1600" b="1" dirty="0" smtClean="0"/>
              <a:t>9º </a:t>
            </a:r>
            <a:r>
              <a:rPr lang="pt-PT" sz="1600" dirty="0" smtClean="0"/>
              <a:t>Adicione outro construtor na classe </a:t>
            </a:r>
            <a:r>
              <a:rPr lang="pt-PT" sz="1600" dirty="0" smtClean="0"/>
              <a:t>Cliente </a:t>
            </a:r>
            <a:r>
              <a:rPr lang="pt-PT" sz="1600" dirty="0" smtClean="0"/>
              <a:t>que permita inicializar os atributos nome, endereco e telefone</a:t>
            </a:r>
          </a:p>
          <a:p>
            <a:pPr algn="just"/>
            <a:r>
              <a:rPr lang="pt-PT" sz="1600" b="1" dirty="0" smtClean="0"/>
              <a:t>10º</a:t>
            </a:r>
            <a:r>
              <a:rPr lang="pt-PT" sz="1600" dirty="0" smtClean="0"/>
              <a:t> Adicione um construtor vazio ao </a:t>
            </a:r>
            <a:r>
              <a:rPr lang="pt-PT" sz="1600" dirty="0" smtClean="0"/>
              <a:t>Item </a:t>
            </a:r>
            <a:r>
              <a:rPr lang="pt-PT" sz="1600" dirty="0" smtClean="0"/>
              <a:t>e </a:t>
            </a:r>
            <a:r>
              <a:rPr lang="pt-PT" sz="1600" dirty="0" smtClean="0"/>
              <a:t>um outro </a:t>
            </a:r>
            <a:r>
              <a:rPr lang="pt-PT" sz="1600" dirty="0" smtClean="0"/>
              <a:t>construtor que permita inicializar os atributos </a:t>
            </a:r>
            <a:r>
              <a:rPr lang="pt-PT" sz="1600" dirty="0" smtClean="0"/>
              <a:t>ID, descricao, </a:t>
            </a:r>
            <a:r>
              <a:rPr lang="pt-PT" sz="1600" dirty="0" smtClean="0"/>
              <a:t>preco e numeroDias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368078257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Projecto III – ACME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285" y="783771"/>
            <a:ext cx="9535886" cy="5562600"/>
          </a:xfrm>
        </p:spPr>
        <p:txBody>
          <a:bodyPr>
            <a:normAutofit lnSpcReduction="10000"/>
          </a:bodyPr>
          <a:lstStyle/>
          <a:p>
            <a:pPr algn="just"/>
            <a:r>
              <a:rPr lang="pt-PT" sz="1600" b="1" dirty="0" smtClean="0"/>
              <a:t>Cliente</a:t>
            </a:r>
            <a:r>
              <a:rPr lang="pt-PT" sz="1600" dirty="0" smtClean="0"/>
              <a:t>[nome, endereco, telefone, numSocio]   </a:t>
            </a:r>
            <a:r>
              <a:rPr lang="pt-PT" sz="1600" b="1" dirty="0" smtClean="0"/>
              <a:t>Item</a:t>
            </a:r>
            <a:r>
              <a:rPr lang="pt-PT" sz="1600" dirty="0" smtClean="0"/>
              <a:t> (preco, numDias, descricao) </a:t>
            </a:r>
            <a:r>
              <a:rPr lang="pt-PT" sz="1600" b="1" dirty="0" smtClean="0"/>
              <a:t>DVDFilme</a:t>
            </a:r>
            <a:r>
              <a:rPr lang="pt-PT" sz="1600" dirty="0" smtClean="0"/>
              <a:t>[sinopse, categoria]</a:t>
            </a:r>
          </a:p>
          <a:p>
            <a:pPr algn="just"/>
            <a:r>
              <a:rPr lang="pt-PT" sz="1600" b="1" dirty="0" smtClean="0"/>
              <a:t>Aluguer</a:t>
            </a:r>
            <a:r>
              <a:rPr lang="pt-PT" sz="1600" dirty="0" smtClean="0"/>
              <a:t>[Cliente, dataInicio, numReserva, itensAlugados]  </a:t>
            </a:r>
            <a:r>
              <a:rPr lang="pt-PT" sz="1600" b="1" dirty="0" smtClean="0"/>
              <a:t>ItemAlugado</a:t>
            </a:r>
            <a:r>
              <a:rPr lang="pt-PT" sz="1600" dirty="0" smtClean="0"/>
              <a:t>[dataPrevista, dataReal]</a:t>
            </a:r>
            <a:r>
              <a:rPr lang="pt-PT" sz="1600" b="1" dirty="0" smtClean="0"/>
              <a:t>: Item</a:t>
            </a:r>
            <a:endParaRPr lang="pt-PT" sz="1600" b="1" dirty="0" smtClean="0"/>
          </a:p>
          <a:p>
            <a:pPr algn="just"/>
            <a:r>
              <a:rPr lang="pt-PT" sz="1600" b="1" dirty="0" smtClean="0"/>
              <a:t>11º</a:t>
            </a:r>
            <a:r>
              <a:rPr lang="pt-PT" sz="1600" dirty="0" smtClean="0"/>
              <a:t> </a:t>
            </a:r>
            <a:r>
              <a:rPr lang="pt-PT" sz="1600" dirty="0" smtClean="0"/>
              <a:t>Crie </a:t>
            </a:r>
            <a:r>
              <a:rPr lang="pt-PT" sz="1600" dirty="0" smtClean="0"/>
              <a:t>a classe DVDFilme com os respectivos atributos e implemente os métodos get e set para cada um </a:t>
            </a:r>
            <a:r>
              <a:rPr lang="pt-PT" sz="1600" dirty="0"/>
              <a:t>deles (utilize o padrão getAtrX e setAtrY);</a:t>
            </a:r>
            <a:endParaRPr lang="pt-PT" sz="1600" dirty="0" smtClean="0"/>
          </a:p>
          <a:p>
            <a:pPr algn="just"/>
            <a:r>
              <a:rPr lang="pt-PT" sz="1600" b="1" dirty="0" smtClean="0"/>
              <a:t>12º </a:t>
            </a:r>
            <a:r>
              <a:rPr lang="pt-PT" sz="1600" dirty="0" smtClean="0"/>
              <a:t>Crie a classe ItemAlugado ... atributos ... Get e set para todos os atributos, construtor que aceite Item e a data prevista;</a:t>
            </a:r>
          </a:p>
          <a:p>
            <a:pPr algn="just"/>
            <a:r>
              <a:rPr lang="pt-PT" sz="1600" b="1" dirty="0" smtClean="0"/>
              <a:t>13º </a:t>
            </a:r>
            <a:r>
              <a:rPr lang="pt-PT" sz="1600" dirty="0" smtClean="0"/>
              <a:t>Crie a classe Aluguer ... atributos ... Get e set para todos os atributos, construtor que aceite data inicio, cliente; </a:t>
            </a:r>
          </a:p>
          <a:p>
            <a:pPr algn="just"/>
            <a:r>
              <a:rPr lang="pt-PT" sz="1600" b="1" dirty="0" smtClean="0"/>
              <a:t>14º </a:t>
            </a:r>
            <a:r>
              <a:rPr lang="pt-PT" sz="1600" dirty="0" smtClean="0"/>
              <a:t>Implemente o método addItem com a assinatura void ... (Item)</a:t>
            </a:r>
            <a:endParaRPr lang="pt-PT" sz="1000" dirty="0" smtClean="0"/>
          </a:p>
          <a:p>
            <a:pPr algn="just"/>
            <a:r>
              <a:rPr lang="pt-PT" sz="1600" b="1" dirty="0" smtClean="0"/>
              <a:t>15º </a:t>
            </a:r>
            <a:r>
              <a:rPr lang="pt-PT" sz="1600" dirty="0" smtClean="0"/>
              <a:t>Implemente o método toString de Aluguer de forma a mostrar todos os atributos em formato string (itens alugados inclusivé)</a:t>
            </a:r>
          </a:p>
          <a:p>
            <a:pPr algn="just"/>
            <a:r>
              <a:rPr lang="pt-PT" sz="1600" b="1" dirty="0" smtClean="0"/>
              <a:t>16º </a:t>
            </a:r>
            <a:r>
              <a:rPr lang="pt-PT" sz="1600" dirty="0"/>
              <a:t>Crie instâncias de: DVDFilme, Item, Aluguer e imprima o toString desses objetos</a:t>
            </a:r>
            <a:r>
              <a:rPr lang="pt-PT" sz="1600" dirty="0" smtClean="0"/>
              <a:t>;</a:t>
            </a:r>
          </a:p>
          <a:p>
            <a:pPr algn="just"/>
            <a:r>
              <a:rPr lang="pt-PT" sz="1600" b="1" dirty="0" smtClean="0"/>
              <a:t>17</a:t>
            </a:r>
            <a:r>
              <a:rPr lang="pt-PT" sz="1600" dirty="0" smtClean="0"/>
              <a:t>º Crie um menu na console application que permita simular um aluguer:</a:t>
            </a:r>
          </a:p>
          <a:p>
            <a:pPr algn="just"/>
            <a:r>
              <a:rPr lang="pt-PT" sz="1600" dirty="0"/>
              <a:t>	</a:t>
            </a:r>
            <a:r>
              <a:rPr lang="pt-PT" sz="1600" dirty="0" smtClean="0"/>
              <a:t>a) Introduza os dados do cliente (Nome? ... NumSocio? ... ) e crie uma instancia de Cliente;</a:t>
            </a:r>
          </a:p>
          <a:p>
            <a:pPr algn="just"/>
            <a:r>
              <a:rPr lang="pt-PT" sz="1600" dirty="0"/>
              <a:t>	</a:t>
            </a:r>
            <a:r>
              <a:rPr lang="pt-PT" sz="1600" dirty="0" smtClean="0"/>
              <a:t>b) Criar um Aluguer para o cliente criado anteriormente;</a:t>
            </a:r>
          </a:p>
          <a:p>
            <a:pPr algn="just"/>
            <a:r>
              <a:rPr lang="pt-PT" sz="1600" dirty="0"/>
              <a:t>	</a:t>
            </a:r>
            <a:r>
              <a:rPr lang="pt-PT" sz="1600" dirty="0" smtClean="0"/>
              <a:t>c) Adicionar itens (pedir os atributos necessários para criar um DVDFilme);</a:t>
            </a:r>
          </a:p>
          <a:p>
            <a:pPr algn="just"/>
            <a:r>
              <a:rPr lang="pt-PT" sz="1600" dirty="0"/>
              <a:t>	</a:t>
            </a:r>
            <a:r>
              <a:rPr lang="pt-PT" sz="1600" dirty="0" smtClean="0"/>
              <a:t>d) Permitir imprimir o Aluguer;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36958458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EC_Template_pt">
  <a:themeElements>
    <a:clrScheme name="Volkswagen">
      <a:dk1>
        <a:srgbClr val="33434C"/>
      </a:dk1>
      <a:lt1>
        <a:srgbClr val="FFFFFF"/>
      </a:lt1>
      <a:dk2>
        <a:srgbClr val="73B1DD"/>
      </a:dk2>
      <a:lt2>
        <a:srgbClr val="CFD7D9"/>
      </a:lt2>
      <a:accent1>
        <a:srgbClr val="003C65"/>
      </a:accent1>
      <a:accent2>
        <a:srgbClr val="2274AC"/>
      </a:accent2>
      <a:accent3>
        <a:srgbClr val="8994A0"/>
      </a:accent3>
      <a:accent4>
        <a:srgbClr val="005D4D"/>
      </a:accent4>
      <a:accent5>
        <a:srgbClr val="730019"/>
      </a:accent5>
      <a:accent6>
        <a:srgbClr val="FF871F"/>
      </a:accent6>
      <a:hlink>
        <a:srgbClr val="33434C"/>
      </a:hlink>
      <a:folHlink>
        <a:srgbClr val="8994A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defRPr sz="21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VW_Basic_Template_en</Template>
  <TotalTime>0</TotalTime>
  <Words>1831</Words>
  <Application>Microsoft Office PowerPoint</Application>
  <PresentationFormat>A4 Paper (210x297 mm)</PresentationFormat>
  <Paragraphs>348</Paragraphs>
  <Slides>28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VW Headline OT-Book</vt:lpstr>
      <vt:lpstr>ATEC_Template_pt</vt:lpstr>
      <vt:lpstr>Programação Computadores – Orientada Objectos 5413</vt:lpstr>
      <vt:lpstr>Introdução</vt:lpstr>
      <vt:lpstr>Introdução Framework .NET</vt:lpstr>
      <vt:lpstr>Introdução Framework .NET</vt:lpstr>
      <vt:lpstr>Introdução Framework .NET</vt:lpstr>
      <vt:lpstr>Exercícios</vt:lpstr>
      <vt:lpstr>Classes</vt:lpstr>
      <vt:lpstr>Classes – Métodos “get”/”set”</vt:lpstr>
      <vt:lpstr>Classes - Properties</vt:lpstr>
      <vt:lpstr>Classes - Métodos</vt:lpstr>
      <vt:lpstr>Classes – Exemplo utilização</vt:lpstr>
      <vt:lpstr>Classes – Exercício</vt:lpstr>
      <vt:lpstr>Classes – Exercício</vt:lpstr>
      <vt:lpstr>Classes – Exercício</vt:lpstr>
      <vt:lpstr>Classes – Encapsulamento</vt:lpstr>
      <vt:lpstr>Classes – Polimorfismo</vt:lpstr>
      <vt:lpstr>Classes – Abstract</vt:lpstr>
      <vt:lpstr>Classes – Exercício</vt:lpstr>
      <vt:lpstr>Classes – Exercício</vt:lpstr>
      <vt:lpstr>Classes – Exercício</vt:lpstr>
      <vt:lpstr>Classes – Exercício Interfaces</vt:lpstr>
      <vt:lpstr>Projecto – Fase I</vt:lpstr>
      <vt:lpstr>Ficha de avaliação</vt:lpstr>
      <vt:lpstr>Projecto – Exercício auxiliar</vt:lpstr>
      <vt:lpstr>Projecto – Fase I</vt:lpstr>
      <vt:lpstr>Projecto III – ACME</vt:lpstr>
      <vt:lpstr>Projecto III – ACME</vt:lpstr>
      <vt:lpstr>Projecto III – ACME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2013-03-13T09:54:52Z</dcterms:created>
  <dcterms:modified xsi:type="dcterms:W3CDTF">2015-06-02T21:53:42Z</dcterms:modified>
</cp:coreProperties>
</file>