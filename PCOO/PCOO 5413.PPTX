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298" r:id="rId2"/>
    <p:sldId id="319" r:id="rId3"/>
    <p:sldId id="320" r:id="rId4"/>
    <p:sldId id="321" r:id="rId5"/>
    <p:sldId id="322" r:id="rId6"/>
    <p:sldId id="323" r:id="rId7"/>
    <p:sldId id="324" r:id="rId8"/>
    <p:sldId id="326" r:id="rId9"/>
    <p:sldId id="325" r:id="rId10"/>
    <p:sldId id="327" r:id="rId11"/>
    <p:sldId id="328" r:id="rId12"/>
    <p:sldId id="329" r:id="rId13"/>
    <p:sldId id="330" r:id="rId14"/>
    <p:sldId id="331" r:id="rId15"/>
    <p:sldId id="332" r:id="rId16"/>
    <p:sldId id="333" r:id="rId17"/>
    <p:sldId id="334" r:id="rId18"/>
    <p:sldId id="335" r:id="rId19"/>
    <p:sldId id="336" r:id="rId20"/>
    <p:sldId id="337" r:id="rId21"/>
    <p:sldId id="338" r:id="rId22"/>
    <p:sldId id="339" r:id="rId23"/>
    <p:sldId id="341" r:id="rId24"/>
    <p:sldId id="340" r:id="rId25"/>
    <p:sldId id="342" r:id="rId26"/>
  </p:sldIdLst>
  <p:sldSz cx="9906000" cy="6858000" type="A4"/>
  <p:notesSz cx="6794500" cy="99314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">
          <p15:clr>
            <a:srgbClr val="A4A3A4"/>
          </p15:clr>
        </p15:guide>
        <p15:guide id="2" orient="horz" pos="733">
          <p15:clr>
            <a:srgbClr val="A4A3A4"/>
          </p15:clr>
        </p15:guide>
        <p15:guide id="3" orient="horz" pos="409">
          <p15:clr>
            <a:srgbClr val="A4A3A4"/>
          </p15:clr>
        </p15:guide>
        <p15:guide id="4" orient="horz" pos="966">
          <p15:clr>
            <a:srgbClr val="A4A3A4"/>
          </p15:clr>
        </p15:guide>
        <p15:guide id="5" orient="horz" pos="3878">
          <p15:clr>
            <a:srgbClr val="A4A3A4"/>
          </p15:clr>
        </p15:guide>
        <p15:guide id="6" orient="horz" pos="4034">
          <p15:clr>
            <a:srgbClr val="A4A3A4"/>
          </p15:clr>
        </p15:guide>
        <p15:guide id="7" pos="5660">
          <p15:clr>
            <a:srgbClr val="A4A3A4"/>
          </p15:clr>
        </p15:guide>
        <p15:guide id="8" pos="149">
          <p15:clr>
            <a:srgbClr val="A4A3A4"/>
          </p15:clr>
        </p15:guide>
        <p15:guide id="9" pos="6090">
          <p15:clr>
            <a:srgbClr val="A4A3A4"/>
          </p15:clr>
        </p15:guide>
        <p15:guide id="10" pos="65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8">
          <p15:clr>
            <a:srgbClr val="A4A3A4"/>
          </p15:clr>
        </p15:guide>
        <p15:guide id="2" pos="214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2D20"/>
    <a:srgbClr val="000000"/>
    <a:srgbClr val="003C65"/>
    <a:srgbClr val="2274AC"/>
    <a:srgbClr val="FFC000"/>
    <a:srgbClr val="007DC5"/>
    <a:srgbClr val="FFD100"/>
    <a:srgbClr val="51AE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26" autoAdjust="0"/>
    <p:restoredTop sz="96691" autoAdjust="0"/>
  </p:normalViewPr>
  <p:slideViewPr>
    <p:cSldViewPr snapToGrid="0">
      <p:cViewPr varScale="1">
        <p:scale>
          <a:sx n="88" d="100"/>
          <a:sy n="88" d="100"/>
        </p:scale>
        <p:origin x="1458" y="84"/>
      </p:cViewPr>
      <p:guideLst>
        <p:guide orient="horz" pos="216"/>
        <p:guide orient="horz" pos="733"/>
        <p:guide orient="horz" pos="409"/>
        <p:guide orient="horz" pos="966"/>
        <p:guide orient="horz" pos="3878"/>
        <p:guide orient="horz" pos="4034"/>
        <p:guide pos="5660"/>
        <p:guide pos="149"/>
        <p:guide pos="6090"/>
        <p:guide pos="652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366" y="60"/>
      </p:cViewPr>
      <p:guideLst>
        <p:guide orient="horz" pos="3128"/>
        <p:guide pos="214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8100" y="0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5DDB26-5A39-475D-920B-32AAE1E9FCB7}" type="datetimeFigureOut">
              <a:rPr lang="pt-PT" smtClean="0"/>
              <a:t>25-05-2015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32925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8100" y="9432925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3CD56E-ECDA-402E-9936-59A7DBA7136D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557134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283" cy="49657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8645" y="0"/>
            <a:ext cx="2944283" cy="49657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934A03-512B-4175-A05C-244CAC0C2483}" type="datetimeFigureOut">
              <a:rPr lang="de-DE" smtClean="0"/>
              <a:t>25.05.2015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708025" y="744538"/>
            <a:ext cx="5378450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17415"/>
            <a:ext cx="5435600" cy="446913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33106"/>
            <a:ext cx="2944283" cy="49657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8645" y="9433106"/>
            <a:ext cx="2944283" cy="49657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A26462-A666-4A36-A2AC-732EB029069A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0277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EC slide ti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019175" y="4425950"/>
            <a:ext cx="7953375" cy="749300"/>
          </a:xfr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/>
          <a:lstStyle>
            <a:lvl1pPr algn="ctr">
              <a:defRPr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noProof="0" dirty="0" smtClean="0"/>
              <a:t>TÍTULO APRESENTAÇÃO</a:t>
            </a:r>
            <a:endParaRPr lang="de-DE" noProof="0" dirty="0" smtClean="0"/>
          </a:p>
        </p:txBody>
      </p:sp>
      <p:sp>
        <p:nvSpPr>
          <p:cNvPr id="6" name="Rectangle 5"/>
          <p:cNvSpPr/>
          <p:nvPr userDrawn="1"/>
        </p:nvSpPr>
        <p:spPr>
          <a:xfrm>
            <a:off x="0" y="0"/>
            <a:ext cx="9906000" cy="6270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pic>
        <p:nvPicPr>
          <p:cNvPr id="5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2842" y="2045603"/>
            <a:ext cx="5400000" cy="1414725"/>
          </a:xfrm>
          <a:prstGeom prst="rect">
            <a:avLst/>
          </a:prstGeom>
        </p:spPr>
      </p:pic>
      <p:sp>
        <p:nvSpPr>
          <p:cNvPr id="8" name="Rectangle 3"/>
          <p:cNvSpPr>
            <a:spLocks noGrp="1" noChangeArrowheads="1"/>
          </p:cNvSpPr>
          <p:nvPr>
            <p:ph type="subTitle" sz="quarter" idx="1" hasCustomPrompt="1"/>
          </p:nvPr>
        </p:nvSpPr>
        <p:spPr>
          <a:xfrm>
            <a:off x="1019175" y="5248800"/>
            <a:ext cx="7953375" cy="530225"/>
          </a:xfrm>
        </p:spPr>
        <p:txBody>
          <a:bodyPr anchor="b"/>
          <a:lstStyle>
            <a:lvl1pPr marL="0" marR="0" indent="0" algn="ctr" defTabSz="914400" rtl="0" eaLnBrk="1" fontAlgn="base" latinLnBrk="0" hangingPunct="1">
              <a:lnSpc>
                <a:spcPct val="10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lang="en-US" sz="2800" b="0" i="0" u="none" strike="noStrike" baseline="0" smtClean="0"/>
            </a:lvl1pPr>
          </a:lstStyle>
          <a:p>
            <a:pPr marL="0" marR="0" lvl="0" indent="0" algn="l" defTabSz="914400" rtl="0" eaLnBrk="1" fontAlgn="base" latinLnBrk="0" hangingPunct="1">
              <a:lnSpc>
                <a:spcPct val="10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0" i="0" u="none" strike="noStrike" baseline="0" dirty="0" smtClean="0">
                <a:solidFill>
                  <a:srgbClr val="33434C"/>
                </a:solidFill>
                <a:latin typeface="+mn-lt"/>
              </a:rPr>
              <a:t>                         Arial Headings 28 </a:t>
            </a:r>
            <a:r>
              <a:rPr lang="en-US" sz="2800" b="0" i="0" u="none" strike="noStrike" baseline="0" dirty="0" err="1" smtClean="0">
                <a:solidFill>
                  <a:srgbClr val="33434C"/>
                </a:solidFill>
                <a:latin typeface="+mn-lt"/>
              </a:rPr>
              <a:t>pt</a:t>
            </a:r>
            <a:endParaRPr lang="en-US" sz="2800" b="0" i="0" u="none" strike="noStrike" baseline="0" dirty="0" smtClean="0">
              <a:solidFill>
                <a:srgbClr val="33434C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6444069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EC  Slid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1031874" y="1195660"/>
            <a:ext cx="7953375" cy="4932362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000000"/>
                </a:solidFill>
              </a:defRPr>
            </a:lvl1pPr>
            <a:lvl2pPr>
              <a:defRPr sz="2000">
                <a:solidFill>
                  <a:srgbClr val="000000"/>
                </a:solidFill>
              </a:defRPr>
            </a:lvl2pPr>
            <a:lvl3pPr>
              <a:defRPr sz="1800">
                <a:solidFill>
                  <a:srgbClr val="000000"/>
                </a:solidFill>
              </a:defRPr>
            </a:lvl3pPr>
            <a:lvl4pPr>
              <a:defRPr sz="2100">
                <a:solidFill>
                  <a:srgbClr val="000000"/>
                </a:solidFill>
              </a:defRPr>
            </a:lvl4pPr>
            <a:lvl5pPr>
              <a:defRPr sz="2100">
                <a:solidFill>
                  <a:srgbClr val="000000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Arial 24</a:t>
            </a:r>
          </a:p>
          <a:p>
            <a:pPr lvl="1"/>
            <a:r>
              <a:rPr lang="en-US" dirty="0" smtClean="0"/>
              <a:t>Arial 20</a:t>
            </a:r>
          </a:p>
          <a:p>
            <a:pPr lvl="2"/>
            <a:r>
              <a:rPr lang="en-US" dirty="0" smtClean="0"/>
              <a:t>Arial 18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de-DE" dirty="0"/>
          </a:p>
        </p:txBody>
      </p:sp>
      <p:sp>
        <p:nvSpPr>
          <p:cNvPr id="11" name="Rectangle 4"/>
          <p:cNvSpPr txBox="1">
            <a:spLocks noChangeArrowheads="1"/>
          </p:cNvSpPr>
          <p:nvPr userDrawn="1"/>
        </p:nvSpPr>
        <p:spPr bwMode="auto">
          <a:xfrm>
            <a:off x="2699200" y="6518422"/>
            <a:ext cx="4445000" cy="28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marL="0" algn="ctr" defTabSz="914400" rtl="0" eaLnBrk="1" latinLnBrk="0" hangingPunct="1">
              <a:lnSpc>
                <a:spcPct val="100000"/>
              </a:lnSpc>
              <a:spcBef>
                <a:spcPct val="0"/>
              </a:spcBef>
              <a:tabLst>
                <a:tab pos="1003300" algn="l"/>
                <a:tab pos="2751138" algn="l"/>
              </a:tabLst>
              <a:defRPr sz="1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 smtClean="0"/>
              <a:t>ATEC – PCOO 5413</a:t>
            </a:r>
            <a:endParaRPr lang="de-DE" dirty="0"/>
          </a:p>
        </p:txBody>
      </p:sp>
      <p:sp>
        <p:nvSpPr>
          <p:cNvPr id="12" name="Rectangle 2"/>
          <p:cNvSpPr txBox="1">
            <a:spLocks noChangeArrowheads="1"/>
          </p:cNvSpPr>
          <p:nvPr userDrawn="1"/>
        </p:nvSpPr>
        <p:spPr bwMode="auto">
          <a:xfrm>
            <a:off x="1031875" y="306535"/>
            <a:ext cx="7953375" cy="900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defTabSz="914400" rtl="0" eaLnBrk="1" latinLnBrk="0" hangingPunct="1">
              <a:lnSpc>
                <a:spcPct val="103000"/>
              </a:lnSpc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de-DE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 smtClean="0"/>
              <a:t>Arial 28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2548091249"/>
      </p:ext>
    </p:extLst>
  </p:cSld>
  <p:clrMapOvr>
    <a:masterClrMapping/>
  </p:clrMapOvr>
  <p:transition>
    <p:cut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US" dirty="0" smtClean="0"/>
              <a:t>Click to add title style</a:t>
            </a:r>
            <a:endParaRPr lang="pt-PT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DE" dirty="0" smtClean="0"/>
              <a:t>ATEC – PCOO 5413</a:t>
            </a:r>
            <a:endParaRPr lang="de-DE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smtClean="0"/>
              <a:t>Page </a:t>
            </a:r>
            <a:fld id="{A5BB97A9-7D72-4F8F-8BC5-4E547C3F4DC5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1031874" y="1195660"/>
            <a:ext cx="7953375" cy="4932362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000000"/>
                </a:solidFill>
              </a:defRPr>
            </a:lvl1pPr>
            <a:lvl2pPr>
              <a:defRPr sz="2000">
                <a:solidFill>
                  <a:srgbClr val="000000"/>
                </a:solidFill>
              </a:defRPr>
            </a:lvl2pPr>
            <a:lvl3pPr>
              <a:defRPr sz="1800">
                <a:solidFill>
                  <a:srgbClr val="000000"/>
                </a:solidFill>
              </a:defRPr>
            </a:lvl3pPr>
            <a:lvl4pPr>
              <a:defRPr sz="2100">
                <a:solidFill>
                  <a:srgbClr val="000000"/>
                </a:solidFill>
              </a:defRPr>
            </a:lvl4pPr>
            <a:lvl5pPr>
              <a:defRPr sz="2100">
                <a:solidFill>
                  <a:srgbClr val="000000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add text</a:t>
            </a:r>
          </a:p>
          <a:p>
            <a:pPr lvl="1"/>
            <a:r>
              <a:rPr lang="en-US" dirty="0" smtClean="0"/>
              <a:t>Arial 20</a:t>
            </a:r>
          </a:p>
          <a:p>
            <a:pPr lvl="2"/>
            <a:r>
              <a:rPr lang="en-US" dirty="0" smtClean="0"/>
              <a:t>Arial 18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90845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019175" y="287338"/>
            <a:ext cx="7953375" cy="900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 smtClean="0"/>
              <a:t>Arial 28</a:t>
            </a:r>
          </a:p>
        </p:txBody>
      </p:sp>
      <p:sp>
        <p:nvSpPr>
          <p:cNvPr id="14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031875" y="1236663"/>
            <a:ext cx="7953375" cy="49196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base" latinLnBrk="0" hangingPunct="1">
              <a:lnSpc>
                <a:spcPct val="103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100" b="0" i="0" u="none" strike="noStrike" kern="0" cap="none" spc="0" normalizeH="0" baseline="0" noProof="0" dirty="0" smtClean="0">
                <a:ln>
                  <a:noFill/>
                </a:ln>
                <a:solidFill>
                  <a:srgbClr val="33434C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Arial 24</a:t>
            </a:r>
          </a:p>
          <a:p>
            <a:pPr marL="266700" marR="0" lvl="1" indent="-265113" algn="l" defTabSz="914400" rtl="0" eaLnBrk="1" fontAlgn="base" latinLnBrk="0" hangingPunct="1">
              <a:lnSpc>
                <a:spcPct val="103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 typeface="VW Headline OT-Book" pitchFamily="34" charset="0"/>
              <a:buChar char="–"/>
              <a:tabLst/>
              <a:defRPr/>
            </a:pPr>
            <a:r>
              <a:rPr kumimoji="0" lang="de-DE" sz="2100" b="0" i="0" u="none" strike="noStrike" kern="0" cap="none" spc="0" normalizeH="0" baseline="0" noProof="0" dirty="0" smtClean="0">
                <a:ln>
                  <a:noFill/>
                </a:ln>
                <a:solidFill>
                  <a:srgbClr val="33434C"/>
                </a:solidFill>
                <a:effectLst/>
                <a:uLnTx/>
                <a:uFillTx/>
                <a:latin typeface="+mn-lt"/>
              </a:rPr>
              <a:t>Arial 20</a:t>
            </a:r>
          </a:p>
          <a:p>
            <a:pPr marL="533400" marR="0" lvl="2" indent="-265113" algn="l" defTabSz="914400" rtl="0" eaLnBrk="1" fontAlgn="base" latinLnBrk="0" hangingPunct="1">
              <a:lnSpc>
                <a:spcPct val="103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 typeface="VW Headline OT-Book" pitchFamily="34" charset="0"/>
              <a:buChar char="–"/>
              <a:tabLst/>
              <a:defRPr/>
            </a:pPr>
            <a:r>
              <a:rPr kumimoji="0" lang="de-DE" sz="2100" b="0" i="0" u="none" strike="noStrike" kern="0" cap="none" spc="0" normalizeH="0" baseline="0" noProof="0" dirty="0" smtClean="0">
                <a:ln>
                  <a:noFill/>
                </a:ln>
                <a:solidFill>
                  <a:srgbClr val="33434C"/>
                </a:solidFill>
                <a:effectLst/>
                <a:uLnTx/>
                <a:uFillTx/>
                <a:latin typeface="+mn-lt"/>
              </a:rPr>
              <a:t>Arial 18</a:t>
            </a:r>
          </a:p>
        </p:txBody>
      </p:sp>
      <p:sp>
        <p:nvSpPr>
          <p:cNvPr id="15" name="Rectangle 4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11500" y="6499225"/>
            <a:ext cx="4445000" cy="28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tabLst>
                <a:tab pos="1003300" algn="l"/>
                <a:tab pos="2751138" algn="l"/>
              </a:tabLst>
              <a:defRPr sz="1000" b="1"/>
            </a:lvl1pPr>
          </a:lstStyle>
          <a:p>
            <a:r>
              <a:rPr lang="de-DE" dirty="0" smtClean="0"/>
              <a:t>ATEC – PCOO 5413</a:t>
            </a:r>
            <a:endParaRPr lang="de-DE" dirty="0"/>
          </a:p>
        </p:txBody>
      </p:sp>
      <p:sp>
        <p:nvSpPr>
          <p:cNvPr id="16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79593" y="6490493"/>
            <a:ext cx="1611313" cy="284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lnSpc>
                <a:spcPct val="100000"/>
              </a:lnSpc>
              <a:spcBef>
                <a:spcPct val="0"/>
              </a:spcBef>
              <a:defRPr sz="1000" b="1"/>
            </a:lvl1pPr>
          </a:lstStyle>
          <a:p>
            <a:r>
              <a:rPr lang="pt-PT" smtClean="0"/>
              <a:t>www.atec.pt</a:t>
            </a:r>
            <a:endParaRPr lang="de-DE" dirty="0"/>
          </a:p>
        </p:txBody>
      </p:sp>
      <p:sp>
        <p:nvSpPr>
          <p:cNvPr id="17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27113" y="6499225"/>
            <a:ext cx="900112" cy="284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lnSpc>
                <a:spcPct val="100000"/>
              </a:lnSpc>
              <a:spcBef>
                <a:spcPct val="0"/>
              </a:spcBef>
              <a:defRPr sz="1000"/>
            </a:lvl1pPr>
          </a:lstStyle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‹#›</a:t>
            </a:fld>
            <a:endParaRPr lang="de-DE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0" y="684312"/>
            <a:ext cx="9864000" cy="0"/>
          </a:xfrm>
          <a:prstGeom prst="line">
            <a:avLst/>
          </a:prstGeom>
          <a:ln w="254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 userDrawn="1"/>
        </p:nvCxnSpPr>
        <p:spPr>
          <a:xfrm>
            <a:off x="0" y="6381328"/>
            <a:ext cx="9900000" cy="0"/>
          </a:xfrm>
          <a:prstGeom prst="line">
            <a:avLst/>
          </a:prstGeom>
          <a:ln w="254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7124" y="247555"/>
            <a:ext cx="1440000" cy="377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366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9" r:id="rId3"/>
  </p:sldLayoutIdLst>
  <p:timing>
    <p:tnLst>
      <p:par>
        <p:cTn id="1" dur="indefinite" restart="never" nodeType="tmRoot"/>
      </p:par>
    </p:tnLst>
  </p:timing>
  <p:hf hdr="0"/>
  <p:txStyles>
    <p:titleStyle>
      <a:lvl1pPr algn="l" defTabSz="914400" rtl="0" eaLnBrk="1" latinLnBrk="0" hangingPunct="1">
        <a:lnSpc>
          <a:spcPct val="103000"/>
        </a:lnSpc>
        <a:spcBef>
          <a:spcPct val="0"/>
        </a:spcBef>
        <a:buNone/>
        <a:defRPr sz="280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marR="0" indent="0" algn="l" defTabSz="914400" rtl="0" eaLnBrk="1" fontAlgn="base" latinLnBrk="0" hangingPunct="1">
        <a:lnSpc>
          <a:spcPct val="103000"/>
        </a:lnSpc>
        <a:spcBef>
          <a:spcPct val="50000"/>
        </a:spcBef>
        <a:spcAft>
          <a:spcPct val="0"/>
        </a:spcAft>
        <a:buClrTx/>
        <a:buSzTx/>
        <a:buFontTx/>
        <a:buNone/>
        <a:tabLst/>
        <a:defRPr sz="2400" kern="120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266700" marR="0" indent="-265113" algn="l" defTabSz="914400" rtl="0" eaLnBrk="1" fontAlgn="base" latinLnBrk="0" hangingPunct="1">
        <a:lnSpc>
          <a:spcPct val="103000"/>
        </a:lnSpc>
        <a:spcBef>
          <a:spcPct val="50000"/>
        </a:spcBef>
        <a:spcAft>
          <a:spcPct val="0"/>
        </a:spcAft>
        <a:buClrTx/>
        <a:buSzTx/>
        <a:buFont typeface="VW Headline OT-Book" pitchFamily="34" charset="0"/>
        <a:buChar char="–"/>
        <a:tabLst/>
        <a:defRPr sz="5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533400" marR="0" indent="-265113" algn="l" defTabSz="914400" rtl="0" eaLnBrk="1" fontAlgn="base" latinLnBrk="0" hangingPunct="1">
        <a:lnSpc>
          <a:spcPct val="103000"/>
        </a:lnSpc>
        <a:spcBef>
          <a:spcPct val="50000"/>
        </a:spcBef>
        <a:spcAft>
          <a:spcPct val="0"/>
        </a:spcAft>
        <a:buClrTx/>
        <a:buSzTx/>
        <a:buFont typeface="VW Headline OT-Book" pitchFamily="34" charset="0"/>
        <a:buChar char="–"/>
        <a:tabLst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784225" marR="0" indent="-249238" algn="l" defTabSz="914400" rtl="0" eaLnBrk="1" fontAlgn="base" latinLnBrk="0" hangingPunct="1">
        <a:lnSpc>
          <a:spcPct val="103000"/>
        </a:lnSpc>
        <a:spcBef>
          <a:spcPct val="50000"/>
        </a:spcBef>
        <a:spcAft>
          <a:spcPct val="0"/>
        </a:spcAft>
        <a:buClrTx/>
        <a:buSzTx/>
        <a:buFont typeface="VW Headline OT-Book" pitchFamily="34" charset="0"/>
        <a:buChar char="–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47750" marR="0" indent="-261938" algn="l" defTabSz="914400" rtl="0" eaLnBrk="1" fontAlgn="base" latinLnBrk="0" hangingPunct="1">
        <a:lnSpc>
          <a:spcPct val="103000"/>
        </a:lnSpc>
        <a:spcBef>
          <a:spcPct val="50000"/>
        </a:spcBef>
        <a:spcAft>
          <a:spcPct val="0"/>
        </a:spcAft>
        <a:buClrTx/>
        <a:buSzTx/>
        <a:buFont typeface="VW Headline OT-Book" pitchFamily="34" charset="0"/>
        <a:buChar char="–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Programação Computadores – Orientada </a:t>
            </a:r>
            <a:r>
              <a:rPr lang="pt-PT" dirty="0" err="1" smtClean="0">
                <a:solidFill>
                  <a:schemeClr val="bg1">
                    <a:lumMod val="50000"/>
                  </a:schemeClr>
                </a:solidFill>
              </a:rPr>
              <a:t>Objectos</a:t>
            </a:r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 5413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5519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875" y="287276"/>
            <a:ext cx="7953375" cy="900112"/>
          </a:xfrm>
        </p:spPr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Introdução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1031874" y="1052818"/>
            <a:ext cx="7953375" cy="4994650"/>
          </a:xfrm>
        </p:spPr>
        <p:txBody>
          <a:bodyPr/>
          <a:lstStyle/>
          <a:p>
            <a:r>
              <a:rPr lang="pt-PT" sz="1800" dirty="0" smtClean="0"/>
              <a:t>Apresentação IDE Visual </a:t>
            </a:r>
            <a:r>
              <a:rPr lang="pt-PT" sz="1800" dirty="0" err="1" smtClean="0"/>
              <a:t>Studio</a:t>
            </a:r>
            <a:endParaRPr lang="pt-PT" sz="1800" dirty="0"/>
          </a:p>
          <a:p>
            <a:r>
              <a:rPr lang="pt-PT" sz="1800" dirty="0" smtClean="0"/>
              <a:t>	Criação de um programa exemplo</a:t>
            </a:r>
          </a:p>
          <a:p>
            <a:r>
              <a:rPr lang="pt-PT" sz="1800" dirty="0" smtClean="0"/>
              <a:t>	Exercícios simples de introdução à linguagem (IF, FOR, WHILE … 		Output de dados, Leitura de dados)</a:t>
            </a:r>
          </a:p>
          <a:p>
            <a:r>
              <a:rPr lang="pt-PT" sz="1800" dirty="0" smtClean="0"/>
              <a:t>Exercícios</a:t>
            </a:r>
            <a:endParaRPr lang="pt-PT" sz="18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3088570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875" y="287276"/>
            <a:ext cx="7953375" cy="900112"/>
          </a:xfrm>
        </p:spPr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Introdução Framework .NET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3</a:t>
            </a:fld>
            <a:endParaRPr lang="de-DE" dirty="0"/>
          </a:p>
        </p:txBody>
      </p:sp>
      <p:pic>
        <p:nvPicPr>
          <p:cNvPr id="1026" name="Picture 2" descr="http://www.willydev.net/InsiteCreation/v1.0/Desde0/m02/M02_05.gif"/>
          <p:cNvPicPr>
            <a:picLocks noGrp="1" noChangeAspect="1" noChangeArrowheads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9087" y="1045935"/>
            <a:ext cx="7602878" cy="4946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722747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875" y="287276"/>
            <a:ext cx="7953375" cy="900112"/>
          </a:xfrm>
        </p:spPr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Introdução Framework .NET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4</a:t>
            </a:fld>
            <a:endParaRPr lang="de-D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" y="1343704"/>
            <a:ext cx="9258300" cy="410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075399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875" y="287276"/>
            <a:ext cx="7953375" cy="900112"/>
          </a:xfrm>
        </p:spPr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Introdução Framework .NET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5</a:t>
            </a:fld>
            <a:endParaRPr lang="de-DE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8885" y="736573"/>
            <a:ext cx="6249761" cy="150615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805" y="4255737"/>
            <a:ext cx="5042070" cy="222195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538" y="2242727"/>
            <a:ext cx="6142491" cy="2068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295880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6963" y="923515"/>
            <a:ext cx="9063832" cy="5357541"/>
          </a:xfrm>
        </p:spPr>
        <p:txBody>
          <a:bodyPr/>
          <a:lstStyle/>
          <a:p>
            <a:pPr marL="457200" indent="-457200" algn="just">
              <a:buAutoNum type="arabicPeriod"/>
            </a:pPr>
            <a:r>
              <a:rPr lang="pt-PT" dirty="0" smtClean="0"/>
              <a:t>Programa que escreva na consola “Hello World”;</a:t>
            </a:r>
          </a:p>
          <a:p>
            <a:pPr marL="457200" indent="-457200" algn="just">
              <a:buAutoNum type="arabicPeriod"/>
            </a:pPr>
            <a:r>
              <a:rPr lang="pt-PT" dirty="0" smtClean="0"/>
              <a:t>Programa que solicite ao utilizador a introdução do seu nome e da sua idade e o apresente de seguida na consola;</a:t>
            </a:r>
          </a:p>
          <a:p>
            <a:pPr marL="457200" indent="-457200" algn="just">
              <a:buAutoNum type="arabicPeriod"/>
            </a:pPr>
            <a:r>
              <a:rPr lang="pt-PT" dirty="0" smtClean="0"/>
              <a:t>Programa que permita guardar um array de inteiros, criar também um método que permita calcular a soma dos valores desse array;</a:t>
            </a:r>
          </a:p>
          <a:p>
            <a:pPr marL="457200" indent="-457200" algn="just">
              <a:buAutoNum type="arabicPeriod"/>
            </a:pPr>
            <a:r>
              <a:rPr lang="pt-PT" dirty="0" smtClean="0"/>
              <a:t>Programa que permita ler um texto e que identifique se se trata de um palíndromo;</a:t>
            </a:r>
          </a:p>
          <a:p>
            <a:pPr marL="457200" indent="-457200" algn="just">
              <a:buAutoNum type="arabicPeriod"/>
            </a:pPr>
            <a:r>
              <a:rPr lang="pt-PT" dirty="0" smtClean="0"/>
              <a:t>Programa que aceite dois parametros de entrada, compile o programa e execute-o a partir da linha de comandos do windows;</a:t>
            </a:r>
            <a:endParaRPr lang="pt-P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Exercícios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9684318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7</a:t>
            </a:fld>
            <a:endParaRPr lang="de-DE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20787" y="943370"/>
            <a:ext cx="7048842" cy="507783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Classes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4605659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8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Classes – Métodos “get”/”set”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pt-PT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454" y="737394"/>
            <a:ext cx="5195774" cy="547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118513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9</a:t>
            </a:fld>
            <a:endParaRPr lang="de-DE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54819" y="1052172"/>
            <a:ext cx="9187914" cy="496762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Classes - Properties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2758638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Classes - Métodos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pt-PT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215" y="1935888"/>
            <a:ext cx="7247194" cy="2255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301709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11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Classes – Exemplo utilização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41375" y="1187450"/>
            <a:ext cx="6528254" cy="5049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210260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12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Classes – Exercício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pt-PT" dirty="0" smtClean="0"/>
              <a:t>Pretende-se construir uma classe Automovel que respeite a seguinte especificação:</a:t>
            </a:r>
          </a:p>
          <a:p>
            <a:r>
              <a:rPr lang="pt-PT" b="1" dirty="0" smtClean="0"/>
              <a:t>Atributos</a:t>
            </a:r>
          </a:p>
          <a:p>
            <a:pPr marL="609600" lvl="1" indent="-342900">
              <a:buFontTx/>
              <a:buChar char="-"/>
            </a:pPr>
            <a:r>
              <a:rPr lang="pt-PT" dirty="0" smtClean="0"/>
              <a:t>Côr;</a:t>
            </a:r>
          </a:p>
          <a:p>
            <a:pPr marL="609600" lvl="1" indent="-342900">
              <a:buFontTx/>
              <a:buChar char="-"/>
            </a:pPr>
            <a:r>
              <a:rPr lang="pt-PT" dirty="0" smtClean="0"/>
              <a:t>Marca;</a:t>
            </a:r>
          </a:p>
          <a:p>
            <a:pPr marL="609600" lvl="1" indent="-342900">
              <a:buFontTx/>
              <a:buChar char="-"/>
            </a:pPr>
            <a:r>
              <a:rPr lang="pt-PT" dirty="0" smtClean="0"/>
              <a:t>Modelo;</a:t>
            </a:r>
          </a:p>
          <a:p>
            <a:pPr marL="609600" lvl="1" indent="-342900">
              <a:buFontTx/>
              <a:buChar char="-"/>
            </a:pPr>
            <a:r>
              <a:rPr lang="pt-PT" dirty="0" smtClean="0"/>
              <a:t>Ano fabrico;</a:t>
            </a:r>
          </a:p>
          <a:p>
            <a:pPr marL="0" lvl="1" indent="0">
              <a:buNone/>
            </a:pPr>
            <a:r>
              <a:rPr lang="pt-PT" sz="2400" b="1" dirty="0"/>
              <a:t>Construtor</a:t>
            </a:r>
          </a:p>
          <a:p>
            <a:pPr marL="609600" lvl="1" indent="-342900">
              <a:buFontTx/>
              <a:buChar char="-"/>
            </a:pPr>
            <a:r>
              <a:rPr lang="pt-PT" dirty="0"/>
              <a:t>Todos os atributos acima definidos;</a:t>
            </a:r>
          </a:p>
          <a:p>
            <a:pPr marL="0" lvl="1" indent="0">
              <a:lnSpc>
                <a:spcPct val="113000"/>
              </a:lnSpc>
              <a:buNone/>
            </a:pPr>
            <a:r>
              <a:rPr lang="pt-PT" sz="2400" b="1" dirty="0" smtClean="0"/>
              <a:t>Properties</a:t>
            </a:r>
          </a:p>
          <a:p>
            <a:pPr marL="609600" lvl="1" indent="-342900">
              <a:buFontTx/>
              <a:buChar char="-"/>
            </a:pPr>
            <a:r>
              <a:rPr lang="pt-PT" dirty="0"/>
              <a:t>Apenas gets</a:t>
            </a:r>
          </a:p>
          <a:p>
            <a:pPr marL="0" lvl="1" indent="0">
              <a:lnSpc>
                <a:spcPct val="113000"/>
              </a:lnSpc>
              <a:buNone/>
            </a:pPr>
            <a:r>
              <a:rPr lang="pt-PT" sz="2400" b="1" dirty="0" smtClean="0"/>
              <a:t>Métodos</a:t>
            </a:r>
          </a:p>
          <a:p>
            <a:pPr marL="609600" lvl="1" indent="-342900">
              <a:buFontTx/>
              <a:buChar char="-"/>
            </a:pPr>
            <a:r>
              <a:rPr lang="pt-PT" dirty="0" smtClean="0"/>
              <a:t>Override </a:t>
            </a:r>
            <a:r>
              <a:rPr lang="pt-PT" dirty="0"/>
              <a:t>do método “toString</a:t>
            </a:r>
            <a:r>
              <a:rPr lang="pt-PT" dirty="0" smtClean="0"/>
              <a:t>”</a:t>
            </a:r>
          </a:p>
          <a:p>
            <a:pPr lvl="1" indent="0">
              <a:buNone/>
            </a:pPr>
            <a:endParaRPr lang="pt-PT" dirty="0"/>
          </a:p>
          <a:p>
            <a:pPr lvl="1" indent="0">
              <a:buNone/>
            </a:pPr>
            <a:r>
              <a:rPr lang="pt-PT" b="1" u="sng" dirty="0" smtClean="0"/>
              <a:t>Implemente apenas o que foi pedido respeitando as boas práticas de nomenclaturas que foram abordadas nas aulas.</a:t>
            </a:r>
            <a:endParaRPr lang="pt-PT" b="1" u="sng" dirty="0"/>
          </a:p>
        </p:txBody>
      </p:sp>
    </p:spTree>
    <p:extLst>
      <p:ext uri="{BB962C8B-B14F-4D97-AF65-F5344CB8AC3E}">
        <p14:creationId xmlns:p14="http://schemas.microsoft.com/office/powerpoint/2010/main" val="437423928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13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Classes – Exercício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PT" dirty="0" smtClean="0"/>
              <a:t>Pretende-se construir uma classe EntidadeIMTT que respeite a seguinte especificação:</a:t>
            </a:r>
          </a:p>
          <a:p>
            <a:pPr marL="0" lvl="1" indent="0">
              <a:lnSpc>
                <a:spcPct val="113000"/>
              </a:lnSpc>
              <a:buNone/>
            </a:pPr>
            <a:r>
              <a:rPr lang="pt-PT" sz="2400" b="1" dirty="0" smtClean="0"/>
              <a:t>Métodos</a:t>
            </a:r>
          </a:p>
          <a:p>
            <a:pPr marL="609600" lvl="1" indent="-342900">
              <a:buFontTx/>
              <a:buChar char="-"/>
            </a:pPr>
            <a:r>
              <a:rPr lang="pt-PT" dirty="0" smtClean="0"/>
              <a:t>Estático que permita validar se uma marca, modelo e ano de fabrico são combinações válidas;</a:t>
            </a:r>
          </a:p>
          <a:p>
            <a:pPr marL="609600" lvl="1" indent="-342900">
              <a:buFontTx/>
              <a:buChar char="-"/>
            </a:pPr>
            <a:r>
              <a:rPr lang="pt-PT" dirty="0" smtClean="0"/>
              <a:t>Para as validações e para efeitos académicos vamos considerar apenas as seguintes combinações hardcoded:</a:t>
            </a:r>
          </a:p>
          <a:p>
            <a:pPr marL="876300" lvl="2" indent="-342900">
              <a:buFontTx/>
              <a:buChar char="-"/>
            </a:pPr>
            <a:r>
              <a:rPr lang="pt-PT" b="1" dirty="0" smtClean="0"/>
              <a:t>Volkswagen</a:t>
            </a:r>
          </a:p>
          <a:p>
            <a:pPr marL="1127125" lvl="3" indent="-342900">
              <a:buFontTx/>
              <a:buChar char="-"/>
            </a:pPr>
            <a:r>
              <a:rPr lang="pt-PT" sz="1800" b="1" i="1" dirty="0" smtClean="0"/>
              <a:t>Golf</a:t>
            </a:r>
          </a:p>
          <a:p>
            <a:pPr marL="1390650" lvl="4" indent="-342900">
              <a:buFontTx/>
              <a:buChar char="-"/>
            </a:pPr>
            <a:r>
              <a:rPr lang="pt-PT" sz="1800" dirty="0" smtClean="0"/>
              <a:t>1987 - 2015</a:t>
            </a:r>
          </a:p>
          <a:p>
            <a:pPr marL="876300" lvl="2" indent="-342900">
              <a:buFontTx/>
              <a:buChar char="-"/>
            </a:pPr>
            <a:r>
              <a:rPr lang="pt-PT" b="1" dirty="0" smtClean="0"/>
              <a:t>Seat</a:t>
            </a:r>
          </a:p>
          <a:p>
            <a:pPr marL="1127125" lvl="3" indent="-342900">
              <a:buFontTx/>
              <a:buChar char="-"/>
            </a:pPr>
            <a:r>
              <a:rPr lang="pt-PT" sz="1800" b="1" i="1" dirty="0" smtClean="0"/>
              <a:t>Leon</a:t>
            </a:r>
          </a:p>
          <a:p>
            <a:pPr marL="1390650" lvl="4" indent="-342900">
              <a:buFontTx/>
              <a:buChar char="-"/>
            </a:pPr>
            <a:r>
              <a:rPr lang="pt-PT" sz="1800" dirty="0" smtClean="0"/>
              <a:t>2013 - 2015</a:t>
            </a:r>
          </a:p>
          <a:p>
            <a:pPr lvl="1" indent="0">
              <a:buNone/>
            </a:pPr>
            <a:r>
              <a:rPr lang="pt-PT" b="1" u="sng" dirty="0" smtClean="0"/>
              <a:t>Qualquer combinação que não seja válida deve lançar uma excepção (podem reutilizar uma excepção que já exista e que faça sentido para este caso).</a:t>
            </a:r>
          </a:p>
          <a:p>
            <a:pPr lvl="1" indent="0">
              <a:buNone/>
            </a:pPr>
            <a:r>
              <a:rPr lang="pt-PT" b="1" u="sng" dirty="0" smtClean="0"/>
              <a:t>Implemente apenas o que foi pedido respeitando as boas práticas de nomenclaturas que foram abordadas nas aulas.</a:t>
            </a:r>
            <a:endParaRPr lang="pt-PT" b="1" u="sng" dirty="0"/>
          </a:p>
        </p:txBody>
      </p:sp>
    </p:spTree>
    <p:extLst>
      <p:ext uri="{BB962C8B-B14F-4D97-AF65-F5344CB8AC3E}">
        <p14:creationId xmlns:p14="http://schemas.microsoft.com/office/powerpoint/2010/main" val="1467798204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14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Classes – Exercício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PT" b="1" dirty="0" smtClean="0"/>
              <a:t>3 -</a:t>
            </a:r>
            <a:r>
              <a:rPr lang="pt-PT" dirty="0" smtClean="0"/>
              <a:t> Adicione a validação de marca, modelo e ano de fabrico à classe Automóvel reutilizando o método criado na EntidadeIMTT efectuando essa validação no construtor da classe.</a:t>
            </a:r>
          </a:p>
          <a:p>
            <a:endParaRPr lang="pt-PT" dirty="0"/>
          </a:p>
          <a:p>
            <a:r>
              <a:rPr lang="pt-PT" b="1" dirty="0" smtClean="0"/>
              <a:t>4 - </a:t>
            </a:r>
            <a:r>
              <a:rPr lang="pt-PT" dirty="0" smtClean="0"/>
              <a:t>Crie uma classe Volkswagen e uma classe Seat que tenham como super classe a classe Automovel.</a:t>
            </a:r>
          </a:p>
          <a:p>
            <a:r>
              <a:rPr lang="pt-PT" dirty="0" smtClean="0"/>
              <a:t>Cada uma das novas classes deve ter apenas </a:t>
            </a:r>
            <a:r>
              <a:rPr lang="pt-PT" sz="3300" b="1" u="sng" dirty="0" smtClean="0"/>
              <a:t>um construtor que aceite 3 parâmetros</a:t>
            </a:r>
            <a:r>
              <a:rPr lang="pt-PT" dirty="0" smtClean="0"/>
              <a:t>: cor, modelo e anoFabrico</a:t>
            </a:r>
          </a:p>
          <a:p>
            <a:endParaRPr lang="pt-PT" dirty="0"/>
          </a:p>
          <a:p>
            <a:r>
              <a:rPr lang="pt-PT" b="1" dirty="0" smtClean="0"/>
              <a:t>5</a:t>
            </a:r>
            <a:r>
              <a:rPr lang="pt-PT" dirty="0" smtClean="0"/>
              <a:t> – Implemente um método </a:t>
            </a:r>
            <a:r>
              <a:rPr lang="pt-PT" sz="3300" b="1" u="sng" dirty="0" smtClean="0"/>
              <a:t>estático</a:t>
            </a:r>
            <a:r>
              <a:rPr lang="pt-PT" dirty="0" smtClean="0"/>
              <a:t> na classe EntidadeIMTT que permita decidir se um determinado automóvel pode circular em Lisboa (anoFabrico &gt;= 2000  =&gt;  pode circular). Esse método deve devolver um </a:t>
            </a:r>
            <a:r>
              <a:rPr lang="pt-PT" sz="3300" b="1" u="sng" dirty="0" smtClean="0"/>
              <a:t>booleano</a:t>
            </a:r>
            <a:r>
              <a:rPr lang="pt-PT" dirty="0" smtClean="0"/>
              <a:t> que indica a possibilidade de circular para um dado veículo.</a:t>
            </a:r>
          </a:p>
        </p:txBody>
      </p:sp>
    </p:spTree>
    <p:extLst>
      <p:ext uri="{BB962C8B-B14F-4D97-AF65-F5344CB8AC3E}">
        <p14:creationId xmlns:p14="http://schemas.microsoft.com/office/powerpoint/2010/main" val="2079382268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15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Classes – Encapsulamento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8588" y="901746"/>
            <a:ext cx="7953375" cy="4932362"/>
          </a:xfrm>
        </p:spPr>
        <p:txBody>
          <a:bodyPr>
            <a:noAutofit/>
          </a:bodyPr>
          <a:lstStyle/>
          <a:p>
            <a:r>
              <a:rPr lang="pt-PT" sz="1200" b="1" dirty="0" smtClean="0"/>
              <a:t>public class Conta{</a:t>
            </a:r>
          </a:p>
          <a:p>
            <a:r>
              <a:rPr lang="pt-PT" sz="1200" dirty="0"/>
              <a:t>	</a:t>
            </a:r>
            <a:r>
              <a:rPr lang="pt-PT" sz="1200" dirty="0" smtClean="0"/>
              <a:t>private float saldo;</a:t>
            </a:r>
          </a:p>
          <a:p>
            <a:r>
              <a:rPr lang="pt-PT" sz="1200" dirty="0"/>
              <a:t>	</a:t>
            </a:r>
            <a:r>
              <a:rPr lang="pt-PT" sz="1200" b="1" dirty="0" smtClean="0"/>
              <a:t>public Conta(float saldo){</a:t>
            </a:r>
          </a:p>
          <a:p>
            <a:r>
              <a:rPr lang="pt-PT" sz="1200" dirty="0"/>
              <a:t>	</a:t>
            </a:r>
            <a:r>
              <a:rPr lang="pt-PT" sz="1200" dirty="0" smtClean="0"/>
              <a:t>	this.saldo = saldo;</a:t>
            </a:r>
          </a:p>
          <a:p>
            <a:r>
              <a:rPr lang="pt-PT" sz="1200" dirty="0"/>
              <a:t>	</a:t>
            </a:r>
            <a:r>
              <a:rPr lang="pt-PT" sz="1200" b="1" dirty="0" smtClean="0"/>
              <a:t>}</a:t>
            </a:r>
          </a:p>
          <a:p>
            <a:r>
              <a:rPr lang="pt-PT" sz="1200" b="1" dirty="0"/>
              <a:t>	</a:t>
            </a:r>
            <a:r>
              <a:rPr lang="pt-PT" sz="1200" b="1" dirty="0" smtClean="0"/>
              <a:t>public void add(float in){ </a:t>
            </a:r>
          </a:p>
          <a:p>
            <a:r>
              <a:rPr lang="pt-PT" sz="1200" dirty="0"/>
              <a:t>	</a:t>
            </a:r>
            <a:r>
              <a:rPr lang="pt-PT" sz="1200" dirty="0" smtClean="0"/>
              <a:t>	if(in &gt; 0) saldo += in; </a:t>
            </a:r>
          </a:p>
          <a:p>
            <a:r>
              <a:rPr lang="pt-PT" sz="1200" dirty="0"/>
              <a:t>	</a:t>
            </a:r>
            <a:r>
              <a:rPr lang="pt-PT" sz="1200" dirty="0" smtClean="0"/>
              <a:t>	else throw new ArgumentException(“Nice try ...”);</a:t>
            </a:r>
          </a:p>
          <a:p>
            <a:r>
              <a:rPr lang="pt-PT" sz="1200" dirty="0"/>
              <a:t>	</a:t>
            </a:r>
            <a:r>
              <a:rPr lang="pt-PT" sz="1200" b="1" dirty="0" smtClean="0"/>
              <a:t>}</a:t>
            </a:r>
          </a:p>
          <a:p>
            <a:r>
              <a:rPr lang="pt-PT" sz="1200" b="1" dirty="0"/>
              <a:t>	</a:t>
            </a:r>
            <a:r>
              <a:rPr lang="pt-PT" sz="1200" b="1" dirty="0" smtClean="0"/>
              <a:t>public void withdraw(float out){</a:t>
            </a:r>
          </a:p>
          <a:p>
            <a:r>
              <a:rPr lang="pt-PT" sz="1200" dirty="0" smtClean="0"/>
              <a:t>	</a:t>
            </a:r>
            <a:r>
              <a:rPr lang="pt-PT" sz="1200" dirty="0"/>
              <a:t> </a:t>
            </a:r>
            <a:r>
              <a:rPr lang="pt-PT" sz="1200" dirty="0" smtClean="0"/>
              <a:t>          if(out &lt;= 0) </a:t>
            </a:r>
          </a:p>
          <a:p>
            <a:r>
              <a:rPr lang="pt-PT" sz="1200" dirty="0"/>
              <a:t>	</a:t>
            </a:r>
            <a:r>
              <a:rPr lang="pt-PT" sz="1200" dirty="0" smtClean="0"/>
              <a:t>	throw </a:t>
            </a:r>
            <a:r>
              <a:rPr lang="pt-PT" sz="1200" dirty="0"/>
              <a:t>new ArgumentException</a:t>
            </a:r>
            <a:r>
              <a:rPr lang="pt-PT" sz="1200" dirty="0" smtClean="0"/>
              <a:t>(“Provide a positive value to withdraw”);</a:t>
            </a:r>
          </a:p>
          <a:p>
            <a:r>
              <a:rPr lang="pt-PT" sz="1200" dirty="0"/>
              <a:t>	 </a:t>
            </a:r>
            <a:r>
              <a:rPr lang="pt-PT" sz="1200" dirty="0" smtClean="0"/>
              <a:t>          else </a:t>
            </a:r>
          </a:p>
          <a:p>
            <a:r>
              <a:rPr lang="pt-PT" sz="1200" dirty="0"/>
              <a:t>	</a:t>
            </a:r>
            <a:r>
              <a:rPr lang="pt-PT" sz="1200" dirty="0" smtClean="0"/>
              <a:t>	{</a:t>
            </a:r>
          </a:p>
          <a:p>
            <a:r>
              <a:rPr lang="pt-PT" sz="1200" dirty="0" smtClean="0"/>
              <a:t>		         if(saldo &lt; out) </a:t>
            </a:r>
          </a:p>
          <a:p>
            <a:r>
              <a:rPr lang="pt-PT" sz="1200" dirty="0"/>
              <a:t>	</a:t>
            </a:r>
            <a:r>
              <a:rPr lang="pt-PT" sz="1200" dirty="0" smtClean="0"/>
              <a:t>		</a:t>
            </a:r>
            <a:r>
              <a:rPr lang="pt-PT" sz="1200" dirty="0"/>
              <a:t> throw new ArgumentException</a:t>
            </a:r>
            <a:r>
              <a:rPr lang="pt-PT" sz="1200" dirty="0" smtClean="0"/>
              <a:t>(“Not enough money to </a:t>
            </a:r>
            <a:r>
              <a:rPr lang="pt-PT" sz="1200" dirty="0"/>
              <a:t>withdraw</a:t>
            </a:r>
            <a:r>
              <a:rPr lang="pt-PT" sz="1200" dirty="0" smtClean="0"/>
              <a:t>”);</a:t>
            </a:r>
          </a:p>
          <a:p>
            <a:r>
              <a:rPr lang="pt-PT" sz="1200" dirty="0"/>
              <a:t>	</a:t>
            </a:r>
            <a:r>
              <a:rPr lang="pt-PT" sz="1200" dirty="0" smtClean="0"/>
              <a:t>	         else</a:t>
            </a:r>
          </a:p>
          <a:p>
            <a:r>
              <a:rPr lang="pt-PT" sz="1200" dirty="0"/>
              <a:t>	</a:t>
            </a:r>
            <a:r>
              <a:rPr lang="pt-PT" sz="1200" dirty="0" smtClean="0"/>
              <a:t>		saldo -= out;</a:t>
            </a:r>
          </a:p>
          <a:p>
            <a:r>
              <a:rPr lang="pt-PT" sz="1200" dirty="0"/>
              <a:t>	</a:t>
            </a:r>
            <a:r>
              <a:rPr lang="pt-PT" sz="1200" dirty="0" smtClean="0"/>
              <a:t>	}</a:t>
            </a:r>
          </a:p>
          <a:p>
            <a:r>
              <a:rPr lang="pt-PT" sz="1200" dirty="0"/>
              <a:t>	</a:t>
            </a:r>
            <a:r>
              <a:rPr lang="pt-PT" sz="1200" b="1" dirty="0" smtClean="0"/>
              <a:t>}</a:t>
            </a:r>
          </a:p>
          <a:p>
            <a:r>
              <a:rPr lang="pt-PT" sz="1200" dirty="0"/>
              <a:t>}</a:t>
            </a:r>
            <a:endParaRPr lang="pt-PT" sz="1200" dirty="0" smtClean="0"/>
          </a:p>
        </p:txBody>
      </p:sp>
    </p:spTree>
    <p:extLst>
      <p:ext uri="{BB962C8B-B14F-4D97-AF65-F5344CB8AC3E}">
        <p14:creationId xmlns:p14="http://schemas.microsoft.com/office/powerpoint/2010/main" val="1878763524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16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Classes – Polimorfismo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8589" y="901746"/>
            <a:ext cx="3942898" cy="4932362"/>
          </a:xfrm>
        </p:spPr>
        <p:txBody>
          <a:bodyPr>
            <a:noAutofit/>
          </a:bodyPr>
          <a:lstStyle/>
          <a:p>
            <a:r>
              <a:rPr lang="pt-PT" sz="1200" b="1" dirty="0" smtClean="0"/>
              <a:t>public class Animal{</a:t>
            </a:r>
          </a:p>
          <a:p>
            <a:r>
              <a:rPr lang="pt-PT" sz="1200" dirty="0" smtClean="0"/>
              <a:t>	</a:t>
            </a:r>
            <a:r>
              <a:rPr lang="pt-PT" sz="1200" b="1" dirty="0" smtClean="0"/>
              <a:t>public string talk(){ </a:t>
            </a:r>
          </a:p>
          <a:p>
            <a:r>
              <a:rPr lang="pt-PT" sz="1200" b="1" dirty="0"/>
              <a:t>	</a:t>
            </a:r>
            <a:r>
              <a:rPr lang="pt-PT" sz="1200" b="1" dirty="0" smtClean="0"/>
              <a:t>	return “?”;</a:t>
            </a:r>
          </a:p>
          <a:p>
            <a:r>
              <a:rPr lang="pt-PT" sz="1200" dirty="0" smtClean="0"/>
              <a:t>	</a:t>
            </a:r>
            <a:r>
              <a:rPr lang="pt-PT" sz="1200" b="1" dirty="0" smtClean="0"/>
              <a:t>}</a:t>
            </a:r>
          </a:p>
          <a:p>
            <a:r>
              <a:rPr lang="pt-PT" sz="1200" b="1" dirty="0" smtClean="0"/>
              <a:t>}</a:t>
            </a:r>
          </a:p>
          <a:p>
            <a:endParaRPr lang="pt-PT" sz="1200" b="1" dirty="0" smtClean="0"/>
          </a:p>
          <a:p>
            <a:endParaRPr lang="pt-PT" sz="1200" b="1" dirty="0"/>
          </a:p>
          <a:p>
            <a:r>
              <a:rPr lang="pt-PT" sz="1200" b="1" dirty="0"/>
              <a:t>public class </a:t>
            </a:r>
            <a:r>
              <a:rPr lang="pt-PT" sz="1200" b="1" dirty="0" smtClean="0"/>
              <a:t>Cat:Animal{</a:t>
            </a:r>
            <a:endParaRPr lang="pt-PT" sz="1200" b="1" dirty="0"/>
          </a:p>
          <a:p>
            <a:r>
              <a:rPr lang="pt-PT" sz="1200" dirty="0"/>
              <a:t>	</a:t>
            </a:r>
            <a:r>
              <a:rPr lang="pt-PT" sz="1200" b="1" dirty="0"/>
              <a:t>public </a:t>
            </a:r>
            <a:r>
              <a:rPr lang="pt-PT" sz="1200" b="1" dirty="0" smtClean="0"/>
              <a:t>override string </a:t>
            </a:r>
            <a:r>
              <a:rPr lang="pt-PT" sz="1200" b="1" dirty="0"/>
              <a:t>talk(){ </a:t>
            </a:r>
          </a:p>
          <a:p>
            <a:r>
              <a:rPr lang="pt-PT" sz="1200" b="1" dirty="0"/>
              <a:t>		return </a:t>
            </a:r>
            <a:r>
              <a:rPr lang="pt-PT" sz="1200" b="1" dirty="0" smtClean="0"/>
              <a:t>“Meoooow”;</a:t>
            </a:r>
            <a:endParaRPr lang="pt-PT" sz="1200" b="1" dirty="0"/>
          </a:p>
          <a:p>
            <a:r>
              <a:rPr lang="pt-PT" sz="1200" dirty="0"/>
              <a:t>	</a:t>
            </a:r>
            <a:r>
              <a:rPr lang="pt-PT" sz="1200" b="1" dirty="0"/>
              <a:t>}</a:t>
            </a:r>
          </a:p>
          <a:p>
            <a:r>
              <a:rPr lang="pt-PT" sz="1200" b="1" dirty="0" smtClean="0"/>
              <a:t>}</a:t>
            </a:r>
          </a:p>
          <a:p>
            <a:endParaRPr lang="pt-PT" sz="1200" b="1" dirty="0"/>
          </a:p>
          <a:p>
            <a:r>
              <a:rPr lang="pt-PT" sz="1200" b="1" dirty="0"/>
              <a:t>public class </a:t>
            </a:r>
            <a:r>
              <a:rPr lang="pt-PT" sz="1200" b="1" dirty="0" smtClean="0"/>
              <a:t>Dog:Animal</a:t>
            </a:r>
            <a:r>
              <a:rPr lang="pt-PT" sz="1200" b="1" dirty="0"/>
              <a:t>{</a:t>
            </a:r>
          </a:p>
          <a:p>
            <a:r>
              <a:rPr lang="pt-PT" sz="1200" dirty="0"/>
              <a:t>	</a:t>
            </a:r>
            <a:r>
              <a:rPr lang="pt-PT" sz="1200" b="1" dirty="0"/>
              <a:t>public override string talk(){ </a:t>
            </a:r>
          </a:p>
          <a:p>
            <a:r>
              <a:rPr lang="pt-PT" sz="1200" b="1" dirty="0"/>
              <a:t>		return </a:t>
            </a:r>
            <a:r>
              <a:rPr lang="pt-PT" sz="1200" b="1" dirty="0" smtClean="0"/>
              <a:t>“AUUUUUFFF”;</a:t>
            </a:r>
            <a:endParaRPr lang="pt-PT" sz="1200" b="1" dirty="0"/>
          </a:p>
          <a:p>
            <a:r>
              <a:rPr lang="pt-PT" sz="1200" dirty="0"/>
              <a:t>	</a:t>
            </a:r>
            <a:r>
              <a:rPr lang="pt-PT" sz="1200" b="1" dirty="0"/>
              <a:t>}</a:t>
            </a:r>
          </a:p>
          <a:p>
            <a:r>
              <a:rPr lang="pt-PT" sz="1200" b="1" dirty="0"/>
              <a:t>}</a:t>
            </a:r>
          </a:p>
          <a:p>
            <a:endParaRPr lang="pt-PT" sz="1200" b="1" dirty="0"/>
          </a:p>
          <a:p>
            <a:endParaRPr lang="pt-PT" sz="1200" b="1" dirty="0"/>
          </a:p>
          <a:p>
            <a:endParaRPr lang="pt-PT" sz="1200" b="1" dirty="0" smtClean="0"/>
          </a:p>
        </p:txBody>
      </p:sp>
      <p:sp>
        <p:nvSpPr>
          <p:cNvPr id="5" name="TextBox 4"/>
          <p:cNvSpPr txBox="1"/>
          <p:nvPr/>
        </p:nvSpPr>
        <p:spPr>
          <a:xfrm>
            <a:off x="4995862" y="2221593"/>
            <a:ext cx="5562599" cy="28729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pt-PT" sz="2100" dirty="0" smtClean="0"/>
              <a:t>/// ... Classe ABC</a:t>
            </a:r>
          </a:p>
          <a:p>
            <a:endParaRPr lang="pt-PT" sz="2100" dirty="0" smtClean="0"/>
          </a:p>
          <a:p>
            <a:r>
              <a:rPr lang="pt-PT" sz="2100" dirty="0" smtClean="0"/>
              <a:t>public static void letItTalk(Animal an){</a:t>
            </a:r>
          </a:p>
          <a:p>
            <a:r>
              <a:rPr lang="pt-PT" sz="2100" dirty="0" smtClean="0"/>
              <a:t>	Console.WriteLine(an.talk());</a:t>
            </a:r>
          </a:p>
          <a:p>
            <a:r>
              <a:rPr lang="pt-PT" sz="2100" dirty="0" smtClean="0"/>
              <a:t>}</a:t>
            </a:r>
          </a:p>
          <a:p>
            <a:endParaRPr lang="pt-PT" sz="2100" dirty="0"/>
          </a:p>
          <a:p>
            <a:endParaRPr lang="pt-PT" sz="2100" dirty="0" smtClean="0"/>
          </a:p>
          <a:p>
            <a:r>
              <a:rPr lang="pt-PT" sz="2100" dirty="0" smtClean="0"/>
              <a:t>ABC.letItTalk(new Dog());</a:t>
            </a:r>
          </a:p>
          <a:p>
            <a:r>
              <a:rPr lang="pt-PT" sz="2100" dirty="0"/>
              <a:t>ABC.letItTalk(new </a:t>
            </a:r>
            <a:r>
              <a:rPr lang="pt-PT" sz="2100" dirty="0" smtClean="0"/>
              <a:t>Cat());</a:t>
            </a:r>
          </a:p>
          <a:p>
            <a:endParaRPr lang="pt-PT" sz="2100" dirty="0"/>
          </a:p>
          <a:p>
            <a:r>
              <a:rPr lang="pt-PT" sz="2100" dirty="0" smtClean="0"/>
              <a:t>ABC.letItTalk(new Animal());</a:t>
            </a:r>
          </a:p>
          <a:p>
            <a:endParaRPr lang="pt-PT" sz="2100" dirty="0" smtClean="0"/>
          </a:p>
        </p:txBody>
      </p:sp>
    </p:spTree>
    <p:extLst>
      <p:ext uri="{BB962C8B-B14F-4D97-AF65-F5344CB8AC3E}">
        <p14:creationId xmlns:p14="http://schemas.microsoft.com/office/powerpoint/2010/main" val="3517057486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17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Classes – Abstract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8589" y="901746"/>
            <a:ext cx="3942898" cy="4932362"/>
          </a:xfrm>
        </p:spPr>
        <p:txBody>
          <a:bodyPr>
            <a:noAutofit/>
          </a:bodyPr>
          <a:lstStyle/>
          <a:p>
            <a:r>
              <a:rPr lang="pt-PT" sz="1200" b="1" dirty="0" smtClean="0"/>
              <a:t>public abstract class Animal{</a:t>
            </a:r>
          </a:p>
          <a:p>
            <a:r>
              <a:rPr lang="pt-PT" sz="1200" dirty="0" smtClean="0"/>
              <a:t>	</a:t>
            </a:r>
            <a:r>
              <a:rPr lang="pt-PT" sz="1200" b="1" dirty="0" smtClean="0"/>
              <a:t>public abstract string talk();</a:t>
            </a:r>
          </a:p>
          <a:p>
            <a:r>
              <a:rPr lang="pt-PT" sz="1200" b="1" dirty="0" smtClean="0"/>
              <a:t>}</a:t>
            </a:r>
          </a:p>
          <a:p>
            <a:endParaRPr lang="pt-PT" sz="1200" b="1" dirty="0" smtClean="0"/>
          </a:p>
          <a:p>
            <a:endParaRPr lang="pt-PT" sz="1200" b="1" dirty="0"/>
          </a:p>
          <a:p>
            <a:r>
              <a:rPr lang="pt-PT" sz="1200" b="1" dirty="0"/>
              <a:t>public class </a:t>
            </a:r>
            <a:r>
              <a:rPr lang="pt-PT" sz="1200" b="1" dirty="0" smtClean="0"/>
              <a:t>Cat:Animal{</a:t>
            </a:r>
            <a:endParaRPr lang="pt-PT" sz="1200" b="1" dirty="0"/>
          </a:p>
          <a:p>
            <a:r>
              <a:rPr lang="pt-PT" sz="1200" dirty="0"/>
              <a:t>	</a:t>
            </a:r>
            <a:r>
              <a:rPr lang="pt-PT" sz="1200" b="1" dirty="0"/>
              <a:t>public </a:t>
            </a:r>
            <a:r>
              <a:rPr lang="pt-PT" sz="1200" b="1" dirty="0" smtClean="0"/>
              <a:t>override string </a:t>
            </a:r>
            <a:r>
              <a:rPr lang="pt-PT" sz="1200" b="1" dirty="0"/>
              <a:t>talk(){ </a:t>
            </a:r>
          </a:p>
          <a:p>
            <a:r>
              <a:rPr lang="pt-PT" sz="1200" b="1" dirty="0"/>
              <a:t>		return </a:t>
            </a:r>
            <a:r>
              <a:rPr lang="pt-PT" sz="1200" b="1" dirty="0" smtClean="0"/>
              <a:t>“Meoooow”;</a:t>
            </a:r>
            <a:endParaRPr lang="pt-PT" sz="1200" b="1" dirty="0"/>
          </a:p>
          <a:p>
            <a:r>
              <a:rPr lang="pt-PT" sz="1200" dirty="0"/>
              <a:t>	</a:t>
            </a:r>
            <a:r>
              <a:rPr lang="pt-PT" sz="1200" b="1" dirty="0"/>
              <a:t>}</a:t>
            </a:r>
          </a:p>
          <a:p>
            <a:r>
              <a:rPr lang="pt-PT" sz="1200" b="1" dirty="0" smtClean="0"/>
              <a:t>}</a:t>
            </a:r>
          </a:p>
          <a:p>
            <a:endParaRPr lang="pt-PT" sz="1200" b="1" dirty="0"/>
          </a:p>
          <a:p>
            <a:r>
              <a:rPr lang="pt-PT" sz="1200" b="1" dirty="0"/>
              <a:t>public class </a:t>
            </a:r>
            <a:r>
              <a:rPr lang="pt-PT" sz="1200" b="1" dirty="0" smtClean="0"/>
              <a:t>Dog:Animal</a:t>
            </a:r>
            <a:r>
              <a:rPr lang="pt-PT" sz="1200" b="1" dirty="0"/>
              <a:t>{</a:t>
            </a:r>
          </a:p>
          <a:p>
            <a:r>
              <a:rPr lang="pt-PT" sz="1200" dirty="0"/>
              <a:t>	</a:t>
            </a:r>
            <a:r>
              <a:rPr lang="pt-PT" sz="1200" b="1" dirty="0"/>
              <a:t>public override string talk(){ </a:t>
            </a:r>
          </a:p>
          <a:p>
            <a:r>
              <a:rPr lang="pt-PT" sz="1200" b="1" dirty="0"/>
              <a:t>		return </a:t>
            </a:r>
            <a:r>
              <a:rPr lang="pt-PT" sz="1200" b="1" dirty="0" smtClean="0"/>
              <a:t>“AUUUUUFFF”;</a:t>
            </a:r>
            <a:endParaRPr lang="pt-PT" sz="1200" b="1" dirty="0"/>
          </a:p>
          <a:p>
            <a:r>
              <a:rPr lang="pt-PT" sz="1200" dirty="0"/>
              <a:t>	</a:t>
            </a:r>
            <a:r>
              <a:rPr lang="pt-PT" sz="1200" b="1" dirty="0"/>
              <a:t>}</a:t>
            </a:r>
          </a:p>
          <a:p>
            <a:r>
              <a:rPr lang="pt-PT" sz="1200" b="1" dirty="0"/>
              <a:t>}</a:t>
            </a:r>
          </a:p>
          <a:p>
            <a:endParaRPr lang="pt-PT" sz="1200" b="1" dirty="0"/>
          </a:p>
          <a:p>
            <a:endParaRPr lang="pt-PT" sz="1200" b="1" dirty="0"/>
          </a:p>
          <a:p>
            <a:endParaRPr lang="pt-PT" sz="1200" b="1" dirty="0" smtClean="0"/>
          </a:p>
        </p:txBody>
      </p:sp>
      <p:sp>
        <p:nvSpPr>
          <p:cNvPr id="5" name="TextBox 4"/>
          <p:cNvSpPr txBox="1"/>
          <p:nvPr/>
        </p:nvSpPr>
        <p:spPr>
          <a:xfrm>
            <a:off x="4995862" y="2221593"/>
            <a:ext cx="5562599" cy="28729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pt-PT" sz="2100" dirty="0" smtClean="0"/>
              <a:t>/// ... Classe ABC</a:t>
            </a:r>
          </a:p>
          <a:p>
            <a:endParaRPr lang="pt-PT" sz="2100" dirty="0" smtClean="0"/>
          </a:p>
          <a:p>
            <a:r>
              <a:rPr lang="pt-PT" sz="2100" dirty="0" smtClean="0"/>
              <a:t>public static void letItTalk(Animal an){</a:t>
            </a:r>
          </a:p>
          <a:p>
            <a:r>
              <a:rPr lang="pt-PT" sz="2100" dirty="0" smtClean="0"/>
              <a:t>	Console.WriteLine(an.talk());</a:t>
            </a:r>
          </a:p>
          <a:p>
            <a:r>
              <a:rPr lang="pt-PT" sz="2100" dirty="0" smtClean="0"/>
              <a:t>}</a:t>
            </a:r>
          </a:p>
          <a:p>
            <a:endParaRPr lang="pt-PT" sz="2100" dirty="0"/>
          </a:p>
          <a:p>
            <a:endParaRPr lang="pt-PT" sz="2100" dirty="0" smtClean="0"/>
          </a:p>
          <a:p>
            <a:r>
              <a:rPr lang="pt-PT" sz="2100" dirty="0" smtClean="0"/>
              <a:t>ABC.letItTalk(new Dog());</a:t>
            </a:r>
          </a:p>
          <a:p>
            <a:r>
              <a:rPr lang="pt-PT" sz="2100" dirty="0"/>
              <a:t>ABC.letItTalk(new </a:t>
            </a:r>
            <a:r>
              <a:rPr lang="pt-PT" sz="2100" dirty="0" smtClean="0"/>
              <a:t>Cat());</a:t>
            </a:r>
          </a:p>
          <a:p>
            <a:endParaRPr lang="pt-PT" sz="2100" dirty="0"/>
          </a:p>
          <a:p>
            <a:r>
              <a:rPr lang="pt-PT" sz="2100" strike="dblStrike" dirty="0" smtClean="0"/>
              <a:t>ABC.letItTalk(new Animal());</a:t>
            </a:r>
          </a:p>
          <a:p>
            <a:endParaRPr lang="pt-PT" sz="2100" dirty="0" smtClean="0"/>
          </a:p>
        </p:txBody>
      </p:sp>
    </p:spTree>
    <p:extLst>
      <p:ext uri="{BB962C8B-B14F-4D97-AF65-F5344CB8AC3E}">
        <p14:creationId xmlns:p14="http://schemas.microsoft.com/office/powerpoint/2010/main" val="2889503381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18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Classes – Exercício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8588" y="901746"/>
            <a:ext cx="8351611" cy="4932362"/>
          </a:xfrm>
        </p:spPr>
        <p:txBody>
          <a:bodyPr>
            <a:normAutofit fontScale="85000" lnSpcReduction="20000"/>
          </a:bodyPr>
          <a:lstStyle/>
          <a:p>
            <a:r>
              <a:rPr lang="pt-PT" sz="1600" b="1" dirty="0" smtClean="0"/>
              <a:t>1-</a:t>
            </a:r>
            <a:r>
              <a:rPr lang="pt-PT" sz="1600" dirty="0" smtClean="0"/>
              <a:t> Classe </a:t>
            </a:r>
            <a:r>
              <a:rPr lang="pt-PT" sz="1600" b="1" dirty="0" smtClean="0"/>
              <a:t>Curso</a:t>
            </a:r>
            <a:r>
              <a:rPr lang="pt-PT" sz="1600" dirty="0" smtClean="0"/>
              <a:t> </a:t>
            </a:r>
          </a:p>
          <a:p>
            <a:r>
              <a:rPr lang="pt-PT" sz="1600" dirty="0"/>
              <a:t>	</a:t>
            </a:r>
            <a:r>
              <a:rPr lang="pt-PT" sz="1600" dirty="0" smtClean="0"/>
              <a:t>- disciplinas (array string)</a:t>
            </a:r>
          </a:p>
          <a:p>
            <a:r>
              <a:rPr lang="pt-PT" sz="1600" dirty="0" smtClean="0"/>
              <a:t>Métodos:</a:t>
            </a:r>
          </a:p>
          <a:p>
            <a:r>
              <a:rPr lang="pt-PT" sz="1600" dirty="0"/>
              <a:t>	</a:t>
            </a:r>
            <a:r>
              <a:rPr lang="pt-PT" sz="1600" dirty="0" smtClean="0"/>
              <a:t>-adicionarUFCD</a:t>
            </a:r>
          </a:p>
          <a:p>
            <a:r>
              <a:rPr lang="pt-PT" sz="1600" dirty="0"/>
              <a:t>	</a:t>
            </a:r>
            <a:r>
              <a:rPr lang="pt-PT" sz="1600" dirty="0" smtClean="0"/>
              <a:t>-consultarUFCD</a:t>
            </a:r>
          </a:p>
          <a:p>
            <a:r>
              <a:rPr lang="pt-PT" sz="1600" b="1" dirty="0" smtClean="0"/>
              <a:t>2-</a:t>
            </a:r>
            <a:r>
              <a:rPr lang="pt-PT" sz="1600" dirty="0" smtClean="0"/>
              <a:t> Classe </a:t>
            </a:r>
            <a:r>
              <a:rPr lang="pt-PT" sz="1600" b="1" dirty="0" smtClean="0"/>
              <a:t>Pessoa</a:t>
            </a:r>
            <a:r>
              <a:rPr lang="pt-PT" sz="1600" dirty="0" smtClean="0"/>
              <a:t> com atributos: nome, dataNascimento e com os seguintes construtores:</a:t>
            </a:r>
          </a:p>
          <a:p>
            <a:r>
              <a:rPr lang="pt-PT" sz="1600" dirty="0"/>
              <a:t>	</a:t>
            </a:r>
            <a:r>
              <a:rPr lang="pt-PT" sz="1600" dirty="0" smtClean="0"/>
              <a:t>- nome;</a:t>
            </a:r>
          </a:p>
          <a:p>
            <a:r>
              <a:rPr lang="pt-PT" sz="1600" dirty="0"/>
              <a:t>	</a:t>
            </a:r>
            <a:r>
              <a:rPr lang="pt-PT" sz="1600" dirty="0" smtClean="0"/>
              <a:t>- nome + dataNascimento;</a:t>
            </a:r>
          </a:p>
          <a:p>
            <a:r>
              <a:rPr lang="pt-PT" sz="1600" b="1" dirty="0" smtClean="0"/>
              <a:t>3- </a:t>
            </a:r>
            <a:r>
              <a:rPr lang="pt-PT" sz="1600" dirty="0" smtClean="0"/>
              <a:t>Classe </a:t>
            </a:r>
            <a:r>
              <a:rPr lang="pt-PT" sz="1600" b="1" dirty="0" smtClean="0"/>
              <a:t>Formador</a:t>
            </a:r>
            <a:r>
              <a:rPr lang="pt-PT" sz="1600" dirty="0" smtClean="0"/>
              <a:t> que extende a classe Pessoa mas que permita guardar os atributos adicionais:</a:t>
            </a:r>
          </a:p>
          <a:p>
            <a:r>
              <a:rPr lang="pt-PT" sz="1600" dirty="0"/>
              <a:t>	</a:t>
            </a:r>
            <a:r>
              <a:rPr lang="pt-PT" sz="1600" dirty="0" smtClean="0"/>
              <a:t>- entidade (string);</a:t>
            </a:r>
          </a:p>
          <a:p>
            <a:r>
              <a:rPr lang="pt-PT" sz="1600" dirty="0"/>
              <a:t>	</a:t>
            </a:r>
            <a:r>
              <a:rPr lang="pt-PT" sz="1600" dirty="0" smtClean="0"/>
              <a:t>- disciplinas (array de strings);</a:t>
            </a:r>
          </a:p>
          <a:p>
            <a:r>
              <a:rPr lang="pt-PT" sz="1600" dirty="0" smtClean="0"/>
              <a:t>	</a:t>
            </a:r>
            <a:r>
              <a:rPr lang="pt-PT" sz="1600" i="1" dirty="0" smtClean="0"/>
              <a:t>Métodos:</a:t>
            </a:r>
          </a:p>
          <a:p>
            <a:r>
              <a:rPr lang="pt-PT" sz="1600" dirty="0"/>
              <a:t>	</a:t>
            </a:r>
            <a:r>
              <a:rPr lang="pt-PT" sz="1600" dirty="0" smtClean="0"/>
              <a:t>- adicionarUFCD;</a:t>
            </a:r>
          </a:p>
          <a:p>
            <a:r>
              <a:rPr lang="pt-PT" sz="1600" dirty="0"/>
              <a:t>	</a:t>
            </a:r>
            <a:r>
              <a:rPr lang="pt-PT" sz="1600" dirty="0" smtClean="0"/>
              <a:t>- consultarUFCDS </a:t>
            </a:r>
            <a:r>
              <a:rPr lang="pt-PT" sz="1600" i="1" dirty="0" smtClean="0"/>
              <a:t>(devolve uma string concatenada com todas as UFCDs)</a:t>
            </a:r>
            <a:r>
              <a:rPr lang="pt-PT" sz="1600" dirty="0" smtClean="0"/>
              <a:t>;</a:t>
            </a:r>
            <a:endParaRPr lang="pt-PT" sz="1600" dirty="0"/>
          </a:p>
          <a:p>
            <a:r>
              <a:rPr lang="pt-PT" sz="1600" b="1" dirty="0" smtClean="0"/>
              <a:t>4-</a:t>
            </a:r>
            <a:r>
              <a:rPr lang="pt-PT" sz="1600" dirty="0" smtClean="0"/>
              <a:t> Classe </a:t>
            </a:r>
            <a:r>
              <a:rPr lang="pt-PT" sz="1600" b="1" dirty="0" smtClean="0"/>
              <a:t>Aluno</a:t>
            </a:r>
            <a:r>
              <a:rPr lang="pt-PT" sz="1600" dirty="0" smtClean="0"/>
              <a:t> que extende a classe Pessoa mas que permita guardar os atributos adicionais:</a:t>
            </a:r>
          </a:p>
          <a:p>
            <a:r>
              <a:rPr lang="pt-PT" sz="1600" dirty="0"/>
              <a:t>	</a:t>
            </a:r>
            <a:r>
              <a:rPr lang="pt-PT" sz="1600" dirty="0" smtClean="0"/>
              <a:t>- numero de aluno(string);</a:t>
            </a:r>
          </a:p>
          <a:p>
            <a:r>
              <a:rPr lang="pt-PT" sz="1600" dirty="0"/>
              <a:t>	</a:t>
            </a:r>
            <a:r>
              <a:rPr lang="pt-PT" sz="1600" dirty="0" smtClean="0"/>
              <a:t>- Curso;</a:t>
            </a:r>
          </a:p>
        </p:txBody>
      </p:sp>
    </p:spTree>
    <p:extLst>
      <p:ext uri="{BB962C8B-B14F-4D97-AF65-F5344CB8AC3E}">
        <p14:creationId xmlns:p14="http://schemas.microsoft.com/office/powerpoint/2010/main" val="1926434626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19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Classes – Exercício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286" y="783772"/>
            <a:ext cx="5029200" cy="3200400"/>
          </a:xfrm>
        </p:spPr>
        <p:txBody>
          <a:bodyPr>
            <a:noAutofit/>
          </a:bodyPr>
          <a:lstStyle/>
          <a:p>
            <a:r>
              <a:rPr lang="pt-PT" b="1" dirty="0" smtClean="0"/>
              <a:t>public </a:t>
            </a:r>
            <a:r>
              <a:rPr lang="pt-PT" b="1" dirty="0"/>
              <a:t>abstract class Animal{</a:t>
            </a:r>
          </a:p>
          <a:p>
            <a:r>
              <a:rPr lang="pt-PT" dirty="0"/>
              <a:t>	public </a:t>
            </a:r>
            <a:r>
              <a:rPr lang="pt-PT" dirty="0" smtClean="0"/>
              <a:t>virtual string </a:t>
            </a:r>
            <a:r>
              <a:rPr lang="pt-PT" dirty="0"/>
              <a:t>talk</a:t>
            </a:r>
            <a:r>
              <a:rPr lang="pt-PT" dirty="0" smtClean="0"/>
              <a:t>(){</a:t>
            </a:r>
          </a:p>
          <a:p>
            <a:r>
              <a:rPr lang="pt-PT" dirty="0"/>
              <a:t>	</a:t>
            </a:r>
            <a:r>
              <a:rPr lang="pt-PT" dirty="0" smtClean="0"/>
              <a:t>	return “elou”;</a:t>
            </a:r>
          </a:p>
          <a:p>
            <a:r>
              <a:rPr lang="pt-PT" dirty="0"/>
              <a:t>	</a:t>
            </a:r>
            <a:r>
              <a:rPr lang="pt-PT" dirty="0" smtClean="0"/>
              <a:t>}</a:t>
            </a:r>
            <a:endParaRPr lang="pt-PT" dirty="0"/>
          </a:p>
          <a:p>
            <a:r>
              <a:rPr lang="pt-PT" b="1" dirty="0"/>
              <a:t>}</a:t>
            </a:r>
          </a:p>
          <a:p>
            <a:r>
              <a:rPr lang="pt-PT" b="1" dirty="0" smtClean="0"/>
              <a:t>public </a:t>
            </a:r>
            <a:r>
              <a:rPr lang="pt-PT" b="1" dirty="0"/>
              <a:t>class Cat:Animal{</a:t>
            </a:r>
          </a:p>
          <a:p>
            <a:r>
              <a:rPr lang="pt-PT" dirty="0"/>
              <a:t>	public override string talk(){ </a:t>
            </a:r>
          </a:p>
          <a:p>
            <a:r>
              <a:rPr lang="pt-PT" dirty="0"/>
              <a:t>		return </a:t>
            </a:r>
            <a:r>
              <a:rPr lang="pt-PT" dirty="0" smtClean="0"/>
              <a:t>“miau”;</a:t>
            </a:r>
            <a:endParaRPr lang="pt-PT" dirty="0"/>
          </a:p>
          <a:p>
            <a:r>
              <a:rPr lang="pt-PT" dirty="0"/>
              <a:t>	}</a:t>
            </a:r>
          </a:p>
          <a:p>
            <a:r>
              <a:rPr lang="pt-PT" b="1" dirty="0" smtClean="0"/>
              <a:t>}</a:t>
            </a:r>
          </a:p>
          <a:p>
            <a:endParaRPr lang="pt-PT" dirty="0"/>
          </a:p>
        </p:txBody>
      </p:sp>
      <p:sp>
        <p:nvSpPr>
          <p:cNvPr id="5" name="TextBox 4"/>
          <p:cNvSpPr txBox="1"/>
          <p:nvPr/>
        </p:nvSpPr>
        <p:spPr>
          <a:xfrm>
            <a:off x="4995862" y="783772"/>
            <a:ext cx="5451588" cy="2667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pt-PT" sz="2400" b="1" dirty="0"/>
              <a:t>public class DumbCat:Cat{</a:t>
            </a:r>
          </a:p>
          <a:p>
            <a:r>
              <a:rPr lang="pt-PT" sz="2400" dirty="0"/>
              <a:t>	public </a:t>
            </a:r>
            <a:r>
              <a:rPr lang="pt-PT" sz="2400" dirty="0" smtClean="0"/>
              <a:t>string </a:t>
            </a:r>
            <a:r>
              <a:rPr lang="pt-PT" sz="2400" dirty="0"/>
              <a:t>talk(){ </a:t>
            </a:r>
          </a:p>
          <a:p>
            <a:r>
              <a:rPr lang="pt-PT" sz="2400" dirty="0"/>
              <a:t>		return </a:t>
            </a:r>
            <a:r>
              <a:rPr lang="pt-PT" sz="2400" dirty="0" smtClean="0"/>
              <a:t>“</a:t>
            </a:r>
            <a:r>
              <a:rPr lang="pt-PT" sz="2400" dirty="0"/>
              <a:t>Meoooow</a:t>
            </a:r>
            <a:r>
              <a:rPr lang="pt-PT" sz="2400" dirty="0" smtClean="0"/>
              <a:t>”;</a:t>
            </a:r>
            <a:endParaRPr lang="pt-PT" sz="2400" dirty="0"/>
          </a:p>
          <a:p>
            <a:r>
              <a:rPr lang="pt-PT" sz="2400" dirty="0"/>
              <a:t>	}</a:t>
            </a:r>
          </a:p>
          <a:p>
            <a:r>
              <a:rPr lang="pt-PT" sz="2400" b="1" dirty="0"/>
              <a:t>}</a:t>
            </a:r>
          </a:p>
          <a:p>
            <a:endParaRPr lang="pt-PT" sz="2400" dirty="0"/>
          </a:p>
          <a:p>
            <a:endParaRPr lang="pt-PT" sz="2400" b="1" dirty="0" smtClean="0"/>
          </a:p>
          <a:p>
            <a:r>
              <a:rPr lang="pt-PT" sz="2400" b="1" dirty="0" smtClean="0"/>
              <a:t>public </a:t>
            </a:r>
            <a:r>
              <a:rPr lang="pt-PT" sz="2400" b="1" dirty="0"/>
              <a:t>class Dog:Animal{</a:t>
            </a:r>
          </a:p>
          <a:p>
            <a:r>
              <a:rPr lang="pt-PT" sz="2400" dirty="0"/>
              <a:t>	public override string talk(){ </a:t>
            </a:r>
          </a:p>
          <a:p>
            <a:r>
              <a:rPr lang="pt-PT" sz="2400" dirty="0"/>
              <a:t>		return “AUUUUUFFF”;</a:t>
            </a:r>
          </a:p>
          <a:p>
            <a:r>
              <a:rPr lang="pt-PT" sz="2400" dirty="0"/>
              <a:t>	}</a:t>
            </a:r>
          </a:p>
          <a:p>
            <a:r>
              <a:rPr lang="pt-PT" sz="2400" b="1" dirty="0"/>
              <a:t>}</a:t>
            </a:r>
            <a:endParaRPr lang="pt-PT" sz="2100" b="1" dirty="0" smtClean="0"/>
          </a:p>
        </p:txBody>
      </p:sp>
    </p:spTree>
    <p:extLst>
      <p:ext uri="{BB962C8B-B14F-4D97-AF65-F5344CB8AC3E}">
        <p14:creationId xmlns:p14="http://schemas.microsoft.com/office/powerpoint/2010/main" val="4263436595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20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Classes – Exercício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286" y="783771"/>
            <a:ext cx="9627620" cy="5290458"/>
          </a:xfrm>
        </p:spPr>
        <p:txBody>
          <a:bodyPr>
            <a:normAutofit fontScale="85000" lnSpcReduction="20000"/>
          </a:bodyPr>
          <a:lstStyle/>
          <a:p>
            <a:r>
              <a:rPr lang="pt-PT" dirty="0" smtClean="0"/>
              <a:t>Pretende-se modelar um sistema de venda de artigos com as seguintes características:</a:t>
            </a:r>
          </a:p>
          <a:p>
            <a:r>
              <a:rPr lang="pt-PT" dirty="0"/>
              <a:t>	</a:t>
            </a:r>
            <a:r>
              <a:rPr lang="pt-PT" b="1" dirty="0" smtClean="0"/>
              <a:t>-</a:t>
            </a:r>
            <a:r>
              <a:rPr lang="pt-PT" dirty="0" smtClean="0"/>
              <a:t> existem 3 tipos de produtos que são vendidos pelo sistema;</a:t>
            </a:r>
          </a:p>
          <a:p>
            <a:r>
              <a:rPr lang="pt-PT" dirty="0"/>
              <a:t>	</a:t>
            </a:r>
            <a:r>
              <a:rPr lang="pt-PT" b="1" dirty="0" smtClean="0"/>
              <a:t>-</a:t>
            </a:r>
            <a:r>
              <a:rPr lang="pt-PT" dirty="0" smtClean="0"/>
              <a:t> cada produto tem características comuns, tais como código de barras, 	descrição, marca, preço;</a:t>
            </a:r>
          </a:p>
          <a:p>
            <a:r>
              <a:rPr lang="pt-PT" dirty="0"/>
              <a:t>	</a:t>
            </a:r>
            <a:r>
              <a:rPr lang="pt-PT" b="1" dirty="0" smtClean="0"/>
              <a:t>-</a:t>
            </a:r>
            <a:r>
              <a:rPr lang="pt-PT" dirty="0" smtClean="0"/>
              <a:t> o sistema permite vender uma lista de produtos a um cliente e permite 	saber o valor total a pagar;</a:t>
            </a:r>
          </a:p>
          <a:p>
            <a:r>
              <a:rPr lang="pt-PT" dirty="0"/>
              <a:t>	</a:t>
            </a:r>
            <a:r>
              <a:rPr lang="pt-PT" b="1" dirty="0" smtClean="0"/>
              <a:t>-</a:t>
            </a:r>
            <a:r>
              <a:rPr lang="pt-PT" dirty="0" smtClean="0"/>
              <a:t> cada tipo de produto pode apresentar um desconto de campanha (ou não);</a:t>
            </a:r>
          </a:p>
          <a:p>
            <a:r>
              <a:rPr lang="pt-PT" dirty="0"/>
              <a:t>	</a:t>
            </a:r>
            <a:r>
              <a:rPr lang="pt-PT" b="1" dirty="0" smtClean="0"/>
              <a:t>-</a:t>
            </a:r>
            <a:r>
              <a:rPr lang="pt-PT" dirty="0" smtClean="0"/>
              <a:t> cada cliente pode ter um desconto sobre o total da compra efectuada;</a:t>
            </a:r>
          </a:p>
          <a:p>
            <a:r>
              <a:rPr lang="pt-PT" dirty="0"/>
              <a:t>	</a:t>
            </a:r>
            <a:r>
              <a:rPr lang="pt-PT" dirty="0" smtClean="0"/>
              <a:t>- um cliente tem que apresentar os seguintes dados: nome, nif e morada;</a:t>
            </a:r>
            <a:endParaRPr lang="pt-PT" dirty="0"/>
          </a:p>
          <a:p>
            <a:r>
              <a:rPr lang="pt-PT" b="1" dirty="0" smtClean="0"/>
              <a:t>a)</a:t>
            </a:r>
            <a:r>
              <a:rPr lang="pt-PT" dirty="0" smtClean="0"/>
              <a:t> Identifique as entidades, atributos e métodos envolvidas neste sistema e faça o respectivo diagrama de classes;</a:t>
            </a:r>
          </a:p>
          <a:p>
            <a:r>
              <a:rPr lang="pt-PT" b="1" dirty="0" smtClean="0"/>
              <a:t>b)</a:t>
            </a:r>
            <a:r>
              <a:rPr lang="pt-PT" dirty="0" smtClean="0"/>
              <a:t> Implemente as classes e crie um programa exemplo que permita testar este sistema</a:t>
            </a:r>
          </a:p>
          <a:p>
            <a:r>
              <a:rPr lang="pt-PT" b="1" dirty="0" smtClean="0"/>
              <a:t>c)</a:t>
            </a:r>
            <a:r>
              <a:rPr lang="pt-PT" dirty="0" smtClean="0"/>
              <a:t> Implemente as classes criando uma DLL que permita ser reutilizada externamente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523603432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21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Classes – Exercício Interfaces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286" y="783772"/>
            <a:ext cx="5029200" cy="3200400"/>
          </a:xfrm>
        </p:spPr>
        <p:txBody>
          <a:bodyPr>
            <a:noAutofit/>
          </a:bodyPr>
          <a:lstStyle/>
          <a:p>
            <a:r>
              <a:rPr lang="pt-PT" b="1" dirty="0" smtClean="0"/>
              <a:t>public </a:t>
            </a:r>
            <a:r>
              <a:rPr lang="pt-PT" b="1" dirty="0"/>
              <a:t>abstract class </a:t>
            </a:r>
            <a:r>
              <a:rPr lang="pt-PT" b="1" dirty="0" smtClean="0"/>
              <a:t>Animal: ITalk{</a:t>
            </a:r>
            <a:endParaRPr lang="pt-PT" b="1" dirty="0"/>
          </a:p>
          <a:p>
            <a:r>
              <a:rPr lang="pt-PT" dirty="0"/>
              <a:t>	public </a:t>
            </a:r>
            <a:r>
              <a:rPr lang="pt-PT" dirty="0" smtClean="0"/>
              <a:t>string </a:t>
            </a:r>
            <a:r>
              <a:rPr lang="pt-PT" dirty="0"/>
              <a:t>talk</a:t>
            </a:r>
            <a:r>
              <a:rPr lang="pt-PT" dirty="0" smtClean="0"/>
              <a:t>(){</a:t>
            </a:r>
          </a:p>
          <a:p>
            <a:r>
              <a:rPr lang="pt-PT" dirty="0"/>
              <a:t>	</a:t>
            </a:r>
            <a:r>
              <a:rPr lang="pt-PT" dirty="0" smtClean="0"/>
              <a:t>	return “elou”;</a:t>
            </a:r>
          </a:p>
          <a:p>
            <a:r>
              <a:rPr lang="pt-PT" dirty="0"/>
              <a:t>	</a:t>
            </a:r>
            <a:r>
              <a:rPr lang="pt-PT" dirty="0" smtClean="0"/>
              <a:t>}</a:t>
            </a:r>
            <a:endParaRPr lang="pt-PT" dirty="0"/>
          </a:p>
          <a:p>
            <a:r>
              <a:rPr lang="pt-PT" b="1" dirty="0"/>
              <a:t>}</a:t>
            </a:r>
          </a:p>
          <a:p>
            <a:r>
              <a:rPr lang="pt-PT" b="1" dirty="0" smtClean="0"/>
              <a:t>public </a:t>
            </a:r>
            <a:r>
              <a:rPr lang="pt-PT" b="1" dirty="0"/>
              <a:t>class Cat:Animal{</a:t>
            </a:r>
          </a:p>
          <a:p>
            <a:r>
              <a:rPr lang="pt-PT" dirty="0"/>
              <a:t>	public </a:t>
            </a:r>
            <a:r>
              <a:rPr lang="pt-PT" dirty="0" smtClean="0"/>
              <a:t>override string </a:t>
            </a:r>
            <a:r>
              <a:rPr lang="pt-PT" dirty="0"/>
              <a:t>talk(){ </a:t>
            </a:r>
          </a:p>
          <a:p>
            <a:r>
              <a:rPr lang="pt-PT" dirty="0"/>
              <a:t>		return </a:t>
            </a:r>
            <a:r>
              <a:rPr lang="pt-PT" dirty="0" smtClean="0"/>
              <a:t>“miau”;</a:t>
            </a:r>
            <a:endParaRPr lang="pt-PT" dirty="0"/>
          </a:p>
          <a:p>
            <a:r>
              <a:rPr lang="pt-PT" dirty="0"/>
              <a:t>	}</a:t>
            </a:r>
          </a:p>
          <a:p>
            <a:r>
              <a:rPr lang="pt-PT" b="1" dirty="0" smtClean="0"/>
              <a:t>}</a:t>
            </a:r>
          </a:p>
          <a:p>
            <a:endParaRPr lang="pt-PT" dirty="0"/>
          </a:p>
        </p:txBody>
      </p:sp>
      <p:sp>
        <p:nvSpPr>
          <p:cNvPr id="5" name="TextBox 4"/>
          <p:cNvSpPr txBox="1"/>
          <p:nvPr/>
        </p:nvSpPr>
        <p:spPr>
          <a:xfrm>
            <a:off x="4995862" y="783772"/>
            <a:ext cx="5451588" cy="26670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pt-PT" sz="2400" b="1" dirty="0"/>
              <a:t>public class DumbCat:Cat{</a:t>
            </a:r>
          </a:p>
          <a:p>
            <a:r>
              <a:rPr lang="pt-PT" sz="2400" dirty="0"/>
              <a:t>	public </a:t>
            </a:r>
            <a:r>
              <a:rPr lang="pt-PT" sz="2400" dirty="0" smtClean="0"/>
              <a:t>override string </a:t>
            </a:r>
            <a:r>
              <a:rPr lang="pt-PT" sz="2400" dirty="0"/>
              <a:t>talk(){ </a:t>
            </a:r>
          </a:p>
          <a:p>
            <a:r>
              <a:rPr lang="pt-PT" sz="2400" dirty="0"/>
              <a:t>		return </a:t>
            </a:r>
            <a:r>
              <a:rPr lang="pt-PT" sz="2400" dirty="0" smtClean="0"/>
              <a:t>“</a:t>
            </a:r>
            <a:r>
              <a:rPr lang="pt-PT" sz="2400" dirty="0"/>
              <a:t>Meoooow</a:t>
            </a:r>
            <a:r>
              <a:rPr lang="pt-PT" sz="2400" dirty="0" smtClean="0"/>
              <a:t>”;</a:t>
            </a:r>
            <a:endParaRPr lang="pt-PT" sz="2400" dirty="0"/>
          </a:p>
          <a:p>
            <a:r>
              <a:rPr lang="pt-PT" sz="2400" dirty="0"/>
              <a:t>	}</a:t>
            </a:r>
          </a:p>
          <a:p>
            <a:r>
              <a:rPr lang="pt-PT" sz="2400" b="1" dirty="0"/>
              <a:t>}</a:t>
            </a:r>
          </a:p>
          <a:p>
            <a:endParaRPr lang="pt-PT" sz="2400" dirty="0"/>
          </a:p>
          <a:p>
            <a:endParaRPr lang="pt-PT" sz="2400" b="1" dirty="0" smtClean="0"/>
          </a:p>
          <a:p>
            <a:r>
              <a:rPr lang="pt-PT" sz="2400" b="1" dirty="0" smtClean="0"/>
              <a:t>public </a:t>
            </a:r>
            <a:r>
              <a:rPr lang="pt-PT" sz="2400" b="1" dirty="0"/>
              <a:t>class Dog:Animal{</a:t>
            </a:r>
          </a:p>
          <a:p>
            <a:r>
              <a:rPr lang="pt-PT" sz="2400" dirty="0"/>
              <a:t>	public override string talk(){ </a:t>
            </a:r>
          </a:p>
          <a:p>
            <a:r>
              <a:rPr lang="pt-PT" sz="2400" dirty="0"/>
              <a:t>		return “AUUUUUFFF”;</a:t>
            </a:r>
          </a:p>
          <a:p>
            <a:r>
              <a:rPr lang="pt-PT" sz="2400" dirty="0"/>
              <a:t>	}</a:t>
            </a:r>
          </a:p>
          <a:p>
            <a:r>
              <a:rPr lang="pt-PT" sz="2400" b="1" dirty="0"/>
              <a:t>}</a:t>
            </a:r>
            <a:endParaRPr lang="pt-PT" sz="2100" b="1" dirty="0" smtClean="0"/>
          </a:p>
        </p:txBody>
      </p:sp>
    </p:spTree>
    <p:extLst>
      <p:ext uri="{BB962C8B-B14F-4D97-AF65-F5344CB8AC3E}">
        <p14:creationId xmlns:p14="http://schemas.microsoft.com/office/powerpoint/2010/main" val="1936774101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22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Projecto – Fase I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286" y="783771"/>
            <a:ext cx="8809264" cy="4963885"/>
          </a:xfrm>
        </p:spPr>
        <p:txBody>
          <a:bodyPr>
            <a:normAutofit fontScale="92500" lnSpcReduction="20000"/>
          </a:bodyPr>
          <a:lstStyle/>
          <a:p>
            <a:r>
              <a:rPr lang="pt-PT" dirty="0" smtClean="0"/>
              <a:t>Implementar um Tabuleiro (</a:t>
            </a:r>
            <a:r>
              <a:rPr lang="pt-PT" b="1" i="1" dirty="0" smtClean="0"/>
              <a:t>Board</a:t>
            </a:r>
            <a:r>
              <a:rPr lang="pt-PT" dirty="0" smtClean="0"/>
              <a:t>)</a:t>
            </a:r>
          </a:p>
          <a:p>
            <a:r>
              <a:rPr lang="pt-PT" dirty="0" smtClean="0"/>
              <a:t>	Permitir configurar o tamanho ( passar argumento no construtor)</a:t>
            </a:r>
          </a:p>
          <a:p>
            <a:r>
              <a:rPr lang="pt-PT" dirty="0"/>
              <a:t>	</a:t>
            </a:r>
            <a:r>
              <a:rPr lang="pt-PT" dirty="0" smtClean="0"/>
              <a:t>Cada célula deve ser inicializada a X</a:t>
            </a:r>
          </a:p>
          <a:p>
            <a:r>
              <a:rPr lang="pt-PT" dirty="0" smtClean="0"/>
              <a:t>	Permitir imprimir “</a:t>
            </a:r>
            <a:r>
              <a:rPr lang="pt-PT" b="1" dirty="0" smtClean="0"/>
              <a:t>print</a:t>
            </a:r>
            <a:r>
              <a:rPr lang="pt-PT" dirty="0" smtClean="0"/>
              <a:t>” cada casa (string) (</a:t>
            </a:r>
            <a:r>
              <a:rPr lang="pt-PT" b="1" dirty="0" smtClean="0"/>
              <a:t>IBoard</a:t>
            </a:r>
            <a:r>
              <a:rPr lang="pt-PT" dirty="0" smtClean="0"/>
              <a:t>)</a:t>
            </a:r>
          </a:p>
          <a:p>
            <a:r>
              <a:rPr lang="pt-PT" dirty="0"/>
              <a:t>	</a:t>
            </a:r>
            <a:r>
              <a:rPr lang="pt-PT" dirty="0" smtClean="0"/>
              <a:t>Método “</a:t>
            </a:r>
            <a:r>
              <a:rPr lang="pt-PT" b="1" dirty="0" smtClean="0"/>
              <a:t>getCell</a:t>
            </a:r>
            <a:r>
              <a:rPr lang="pt-PT" dirty="0" smtClean="0"/>
              <a:t>” que deve devolver a Cell que está na line e column fornecidas por argumento (</a:t>
            </a:r>
            <a:r>
              <a:rPr lang="pt-PT" b="1" dirty="0" smtClean="0"/>
              <a:t>IBoard</a:t>
            </a:r>
            <a:r>
              <a:rPr lang="pt-PT" dirty="0" smtClean="0"/>
              <a:t>).</a:t>
            </a:r>
          </a:p>
          <a:p>
            <a:r>
              <a:rPr lang="pt-PT" i="1" dirty="0" smtClean="0"/>
              <a:t>Cada célula deve ser do tipo </a:t>
            </a:r>
            <a:r>
              <a:rPr lang="pt-PT" b="1" i="1" dirty="0" smtClean="0"/>
              <a:t>Cell</a:t>
            </a:r>
            <a:r>
              <a:rPr lang="pt-PT" i="1" dirty="0" smtClean="0"/>
              <a:t> e deve ter os atributos line e column e as properties (apenas get) Line e Column. Para além disso queremos que a Cell tenha também um atributo label e a respectiva property (get apenas).</a:t>
            </a:r>
          </a:p>
          <a:p>
            <a:r>
              <a:rPr lang="pt-PT" i="1" dirty="0" smtClean="0"/>
              <a:t>Cada Cell deve ser criada sempre fornecendo todos os atributos. Deve ser implementado o método toString de forma a devolver a label.</a:t>
            </a:r>
          </a:p>
        </p:txBody>
      </p:sp>
    </p:spTree>
    <p:extLst>
      <p:ext uri="{BB962C8B-B14F-4D97-AF65-F5344CB8AC3E}">
        <p14:creationId xmlns:p14="http://schemas.microsoft.com/office/powerpoint/2010/main" val="862137045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23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Ficha de avaliação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5060" y="784226"/>
            <a:ext cx="9714705" cy="5812972"/>
          </a:xfrm>
        </p:spPr>
        <p:txBody>
          <a:bodyPr>
            <a:noAutofit/>
          </a:bodyPr>
          <a:lstStyle/>
          <a:p>
            <a:r>
              <a:rPr lang="pt-PT" sz="1800" b="1" dirty="0" smtClean="0"/>
              <a:t>1.</a:t>
            </a:r>
            <a:r>
              <a:rPr lang="pt-PT" sz="1800" dirty="0" smtClean="0"/>
              <a:t> Diga </a:t>
            </a:r>
            <a:r>
              <a:rPr lang="pt-PT" sz="1800" dirty="0"/>
              <a:t>o que entende por Classe</a:t>
            </a:r>
          </a:p>
          <a:p>
            <a:r>
              <a:rPr lang="pt-PT" sz="1800" b="1" dirty="0" smtClean="0"/>
              <a:t>2.</a:t>
            </a:r>
            <a:r>
              <a:rPr lang="pt-PT" sz="1800" dirty="0" smtClean="0"/>
              <a:t> Diga </a:t>
            </a:r>
            <a:r>
              <a:rPr lang="pt-PT" sz="1800" dirty="0"/>
              <a:t>o que entende por Objecto</a:t>
            </a:r>
          </a:p>
          <a:p>
            <a:r>
              <a:rPr lang="pt-PT" sz="1800" b="1" dirty="0" smtClean="0"/>
              <a:t>3.</a:t>
            </a:r>
            <a:r>
              <a:rPr lang="pt-PT" sz="1800" dirty="0" smtClean="0"/>
              <a:t> O </a:t>
            </a:r>
            <a:r>
              <a:rPr lang="pt-PT" sz="1800" dirty="0"/>
              <a:t>que é um Interface</a:t>
            </a:r>
          </a:p>
          <a:p>
            <a:r>
              <a:rPr lang="pt-PT" sz="1800" b="1" dirty="0" smtClean="0"/>
              <a:t>4.</a:t>
            </a:r>
            <a:r>
              <a:rPr lang="pt-PT" sz="1800" dirty="0" smtClean="0"/>
              <a:t> Qual </a:t>
            </a:r>
            <a:r>
              <a:rPr lang="pt-PT" sz="1800" dirty="0"/>
              <a:t>é a diferença entre um Interface e uma classe Abstrata, justifique o mais detalhadamente possível.</a:t>
            </a:r>
          </a:p>
          <a:p>
            <a:r>
              <a:rPr lang="pt-PT" sz="1800" b="1" dirty="0" smtClean="0"/>
              <a:t>5.</a:t>
            </a:r>
            <a:r>
              <a:rPr lang="pt-PT" sz="1800" dirty="0" smtClean="0"/>
              <a:t> Qual </a:t>
            </a:r>
            <a:r>
              <a:rPr lang="pt-PT" sz="1800" dirty="0"/>
              <a:t>a diferença entre um método abstrato e um método virtual, caracterize os dois identificando </a:t>
            </a:r>
            <a:r>
              <a:rPr lang="pt-PT" sz="1800" dirty="0" smtClean="0"/>
              <a:t>as </a:t>
            </a:r>
            <a:r>
              <a:rPr lang="pt-PT" sz="1800" dirty="0"/>
              <a:t>principais diferenças entre eles.</a:t>
            </a:r>
          </a:p>
          <a:p>
            <a:r>
              <a:rPr lang="pt-PT" sz="1800" b="1" dirty="0" smtClean="0"/>
              <a:t>6.</a:t>
            </a:r>
            <a:r>
              <a:rPr lang="pt-PT" sz="1800" dirty="0" smtClean="0"/>
              <a:t> Podemos </a:t>
            </a:r>
            <a:r>
              <a:rPr lang="pt-PT" sz="1800" dirty="0"/>
              <a:t>ter um método abstracto numa classe declarada da seguinte forma? Justifique</a:t>
            </a:r>
          </a:p>
          <a:p>
            <a:r>
              <a:rPr lang="pt-PT" sz="1800" dirty="0" smtClean="0"/>
              <a:t>               public </a:t>
            </a:r>
            <a:r>
              <a:rPr lang="pt-PT" sz="1800" dirty="0"/>
              <a:t>class MyClass { ... </a:t>
            </a:r>
            <a:r>
              <a:rPr lang="pt-PT" sz="1800" dirty="0" smtClean="0"/>
              <a:t>}</a:t>
            </a:r>
          </a:p>
          <a:p>
            <a:r>
              <a:rPr lang="pt-PT" sz="1800" b="1" dirty="0" smtClean="0"/>
              <a:t>7. a) </a:t>
            </a:r>
            <a:r>
              <a:rPr lang="pt-PT" sz="1800" dirty="0" smtClean="0"/>
              <a:t>Esboce </a:t>
            </a:r>
            <a:r>
              <a:rPr lang="pt-PT" sz="1800" dirty="0"/>
              <a:t>um diagrama de classes para o seguinte texto:</a:t>
            </a:r>
          </a:p>
          <a:p>
            <a:r>
              <a:rPr lang="pt-PT" sz="1800" dirty="0" smtClean="0"/>
              <a:t>       Um </a:t>
            </a:r>
            <a:r>
              <a:rPr lang="pt-PT" sz="1800" dirty="0"/>
              <a:t>ponto em 2D descreve-se mediante duas caraterísticas principais, a sua coordenada x e a y. </a:t>
            </a:r>
            <a:r>
              <a:rPr lang="pt-PT" sz="1800" dirty="0" smtClean="0"/>
              <a:t>No </a:t>
            </a:r>
            <a:r>
              <a:rPr lang="pt-PT" sz="1800" dirty="0"/>
              <a:t>entanto um ponto em 3D descreve-se com a característica adicional z.</a:t>
            </a:r>
          </a:p>
          <a:p>
            <a:r>
              <a:rPr lang="pt-PT" sz="1800" dirty="0" smtClean="0"/>
              <a:t>       Uma </a:t>
            </a:r>
            <a:r>
              <a:rPr lang="pt-PT" sz="1800" dirty="0"/>
              <a:t>linha é representada por dois pontos 2D</a:t>
            </a:r>
            <a:r>
              <a:rPr lang="pt-PT" sz="1800" dirty="0" smtClean="0"/>
              <a:t>.</a:t>
            </a:r>
          </a:p>
          <a:p>
            <a:r>
              <a:rPr lang="pt-PT" sz="1800" b="1" dirty="0" smtClean="0"/>
              <a:t>7. b)</a:t>
            </a:r>
            <a:r>
              <a:rPr lang="pt-PT" sz="1800" dirty="0" smtClean="0"/>
              <a:t> Implemente </a:t>
            </a:r>
            <a:r>
              <a:rPr lang="pt-PT" sz="1800" dirty="0"/>
              <a:t>as classes descritas acima, expondo apenas properties com o acessor get</a:t>
            </a:r>
            <a:r>
              <a:rPr lang="pt-PT" sz="1800" dirty="0" smtClean="0"/>
              <a:t>.</a:t>
            </a:r>
            <a:endParaRPr lang="pt-PT" sz="1800" dirty="0" smtClean="0"/>
          </a:p>
        </p:txBody>
      </p:sp>
    </p:spTree>
    <p:extLst>
      <p:ext uri="{BB962C8B-B14F-4D97-AF65-F5344CB8AC3E}">
        <p14:creationId xmlns:p14="http://schemas.microsoft.com/office/powerpoint/2010/main" val="3103877616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24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Projecto – </a:t>
            </a:r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Exercício auxiliar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286" y="783771"/>
            <a:ext cx="8809264" cy="5562600"/>
          </a:xfrm>
        </p:spPr>
        <p:txBody>
          <a:bodyPr>
            <a:normAutofit fontScale="62500" lnSpcReduction="20000"/>
          </a:bodyPr>
          <a:lstStyle/>
          <a:p>
            <a:r>
              <a:rPr lang="pt-PT" dirty="0" smtClean="0"/>
              <a:t>Recorrendo às classes utilizadas na aula anterior, implemente um jogo de sokoban em que permita ter 4 tipos de peças:</a:t>
            </a:r>
          </a:p>
          <a:p>
            <a:r>
              <a:rPr lang="pt-PT" b="1" dirty="0" smtClean="0"/>
              <a:t>Hero</a:t>
            </a:r>
            <a:r>
              <a:rPr lang="pt-PT" dirty="0" smtClean="0"/>
              <a:t> – Personagem heróica que se pode movimentar uma casa de cada vez, para cada um dos lados (cima, baixo, esquerda ou direita)</a:t>
            </a:r>
          </a:p>
          <a:p>
            <a:r>
              <a:rPr lang="pt-PT" b="1" dirty="0" smtClean="0"/>
              <a:t>Princess</a:t>
            </a:r>
            <a:r>
              <a:rPr lang="pt-PT" dirty="0" smtClean="0"/>
              <a:t> – Personagem que não se pode deslocar, a menos que por intermédio do </a:t>
            </a:r>
            <a:r>
              <a:rPr lang="pt-PT" i="1" dirty="0" smtClean="0"/>
              <a:t>Hero</a:t>
            </a:r>
            <a:endParaRPr lang="pt-PT" i="1" dirty="0" smtClean="0"/>
          </a:p>
          <a:p>
            <a:r>
              <a:rPr lang="pt-PT" b="1" dirty="0" smtClean="0"/>
              <a:t>Wall</a:t>
            </a:r>
            <a:r>
              <a:rPr lang="pt-PT" dirty="0" smtClean="0"/>
              <a:t> – Bloco imóvel em que não permite que ninguém se desloque para cima deste</a:t>
            </a:r>
          </a:p>
          <a:p>
            <a:r>
              <a:rPr lang="pt-PT" b="1" dirty="0" smtClean="0"/>
              <a:t>Exit</a:t>
            </a:r>
            <a:r>
              <a:rPr lang="pt-PT" dirty="0" smtClean="0"/>
              <a:t> – Bloco de saída, não se pode mover, se a Princess se mover para este bloco, termina o jogo</a:t>
            </a:r>
          </a:p>
          <a:p>
            <a:endParaRPr lang="pt-PT" dirty="0" smtClean="0"/>
          </a:p>
          <a:p>
            <a:r>
              <a:rPr lang="pt-PT" dirty="0" smtClean="0"/>
              <a:t>Crie uma classe </a:t>
            </a:r>
            <a:r>
              <a:rPr lang="pt-PT" b="1" i="1" dirty="0" smtClean="0"/>
              <a:t>Sokoban</a:t>
            </a:r>
            <a:r>
              <a:rPr lang="pt-PT" dirty="0" smtClean="0"/>
              <a:t> que permita ter os seguintes métodos:  </a:t>
            </a:r>
          </a:p>
          <a:p>
            <a:pPr marL="342900" indent="-342900">
              <a:buFontTx/>
              <a:buChar char="-"/>
            </a:pPr>
            <a:r>
              <a:rPr lang="pt-PT" dirty="0" smtClean="0"/>
              <a:t>... </a:t>
            </a:r>
            <a:r>
              <a:rPr lang="pt-PT" b="1" i="1" dirty="0" smtClean="0"/>
              <a:t>generateRandom</a:t>
            </a:r>
            <a:r>
              <a:rPr lang="pt-PT" dirty="0" smtClean="0"/>
              <a:t>( ... ); - permite criar um tabuleiro,criar e posicionar as personagens;</a:t>
            </a:r>
          </a:p>
          <a:p>
            <a:pPr marL="342900" indent="-342900">
              <a:buFontTx/>
              <a:buChar char="-"/>
            </a:pPr>
            <a:r>
              <a:rPr lang="pt-PT" b="1" i="1" u="sng" dirty="0" smtClean="0">
                <a:solidFill>
                  <a:srgbClr val="0070C0"/>
                </a:solidFill>
              </a:rPr>
              <a:t>MoveType</a:t>
            </a:r>
            <a:r>
              <a:rPr lang="pt-PT" dirty="0" smtClean="0"/>
              <a:t> </a:t>
            </a:r>
            <a:r>
              <a:rPr lang="pt-PT" b="1" i="1" dirty="0" smtClean="0"/>
              <a:t>placeMove</a:t>
            </a:r>
            <a:r>
              <a:rPr lang="pt-PT" dirty="0" smtClean="0"/>
              <a:t>(</a:t>
            </a:r>
            <a:r>
              <a:rPr lang="pt-PT" b="1" i="1" u="sng" dirty="0" smtClean="0">
                <a:solidFill>
                  <a:srgbClr val="C82D20"/>
                </a:solidFill>
              </a:rPr>
              <a:t>KeyPressed</a:t>
            </a:r>
            <a:r>
              <a:rPr lang="pt-PT" dirty="0" smtClean="0"/>
              <a:t> key);</a:t>
            </a:r>
          </a:p>
          <a:p>
            <a:pPr marL="609600" lvl="1" indent="-342900">
              <a:buFontTx/>
              <a:buChar char="-"/>
            </a:pPr>
            <a:r>
              <a:rPr lang="pt-PT" dirty="0" smtClean="0"/>
              <a:t>KeyPressed =&gt; enum com as teclas (investigar o nome correto)</a:t>
            </a:r>
          </a:p>
          <a:p>
            <a:pPr marL="609600" lvl="1" indent="-342900">
              <a:buFontTx/>
              <a:buChar char="-"/>
            </a:pPr>
            <a:r>
              <a:rPr lang="pt-PT" dirty="0" smtClean="0"/>
              <a:t>MoveType =&gt; criar um enum com os seguintes valores ( JogadaOK, JogadaNOK, Won )</a:t>
            </a:r>
            <a:endParaRPr lang="pt-PT" dirty="0"/>
          </a:p>
          <a:p>
            <a:pPr lvl="1" indent="0">
              <a:buNone/>
            </a:pPr>
            <a:endParaRPr lang="pt-PT" dirty="0" smtClean="0"/>
          </a:p>
          <a:p>
            <a:r>
              <a:rPr lang="pt-PT" sz="3000" dirty="0" smtClean="0"/>
              <a:t>Cria uma classe chamada MySokoban e utilize essa DLL numa console application. Esta DLL deve referenciar a DLL que criaram nas aulas anteriores</a:t>
            </a:r>
            <a:endParaRPr lang="pt-PT" sz="3000" dirty="0"/>
          </a:p>
        </p:txBody>
      </p:sp>
    </p:spTree>
    <p:extLst>
      <p:ext uri="{BB962C8B-B14F-4D97-AF65-F5344CB8AC3E}">
        <p14:creationId xmlns:p14="http://schemas.microsoft.com/office/powerpoint/2010/main" val="2470076531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pt-PT" dirty="0" smtClean="0"/>
              <a:t>www.atec.pt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dirty="0" smtClean="0"/>
              <a:t>Page </a:t>
            </a:r>
            <a:fld id="{A5BB97A9-7D72-4F8F-8BC5-4E547C3F4DC5}" type="slidenum">
              <a:rPr lang="de-DE" smtClean="0"/>
              <a:pPr/>
              <a:t>25</a:t>
            </a:fld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smtClean="0">
                <a:solidFill>
                  <a:schemeClr val="bg1">
                    <a:lumMod val="50000"/>
                  </a:schemeClr>
                </a:solidFill>
              </a:rPr>
              <a:t>Projecto – Fase I</a:t>
            </a:r>
            <a:endParaRPr lang="pt-PT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286" y="783771"/>
            <a:ext cx="8809264" cy="4963885"/>
          </a:xfrm>
        </p:spPr>
        <p:txBody>
          <a:bodyPr>
            <a:normAutofit fontScale="77500" lnSpcReduction="20000"/>
          </a:bodyPr>
          <a:lstStyle/>
          <a:p>
            <a:r>
              <a:rPr lang="pt-PT" dirty="0" smtClean="0"/>
              <a:t>Considerando os seguintes dados adicionais, implemente/altere as classes necessárias:</a:t>
            </a:r>
          </a:p>
          <a:p>
            <a:pPr marL="457200" indent="-457200">
              <a:buFont typeface="+mj-lt"/>
              <a:buAutoNum type="arabicPeriod"/>
            </a:pPr>
            <a:r>
              <a:rPr lang="pt-PT" dirty="0" smtClean="0"/>
              <a:t>Uma peça tem uma determinada cor;</a:t>
            </a:r>
          </a:p>
          <a:p>
            <a:pPr marL="457200" indent="-457200">
              <a:buFont typeface="+mj-lt"/>
              <a:buAutoNum type="arabicPeriod"/>
            </a:pPr>
            <a:r>
              <a:rPr lang="pt-PT" dirty="0" smtClean="0"/>
              <a:t>Uma peça está numa determinada localização do tabuleiro;</a:t>
            </a:r>
          </a:p>
          <a:p>
            <a:pPr marL="457200" indent="-457200">
              <a:buFont typeface="+mj-lt"/>
              <a:buAutoNum type="arabicPeriod"/>
            </a:pPr>
            <a:r>
              <a:rPr lang="pt-PT" dirty="0" smtClean="0"/>
              <a:t>No xadrez cada tipo de peça tem um movimento possível, dependendo do tipo de peça que é, dependendo também de onde está e para onde vai;</a:t>
            </a:r>
          </a:p>
          <a:p>
            <a:pPr marL="990600" lvl="2" indent="-457200">
              <a:buFont typeface="+mj-lt"/>
              <a:buAutoNum type="arabicPeriod"/>
            </a:pPr>
            <a:r>
              <a:rPr lang="pt-PT" dirty="0" smtClean="0"/>
              <a:t>Captura en-passant</a:t>
            </a:r>
          </a:p>
          <a:p>
            <a:pPr marL="990600" lvl="2" indent="-457200">
              <a:buFont typeface="+mj-lt"/>
              <a:buAutoNum type="arabicPeriod"/>
            </a:pPr>
            <a:r>
              <a:rPr lang="pt-PT" dirty="0" smtClean="0"/>
              <a:t>Castle king side, Castle queen side;</a:t>
            </a:r>
          </a:p>
          <a:p>
            <a:pPr marL="990600" lvl="2" indent="-457200">
              <a:buFont typeface="+mj-lt"/>
              <a:buAutoNum type="arabicPeriod"/>
            </a:pPr>
            <a:r>
              <a:rPr lang="pt-PT" dirty="0" smtClean="0"/>
              <a:t>Chequemate;</a:t>
            </a:r>
          </a:p>
          <a:p>
            <a:pPr marL="990600" lvl="2" indent="-457200">
              <a:buFont typeface="+mj-lt"/>
              <a:buAutoNum type="arabicPeriod"/>
            </a:pPr>
            <a:r>
              <a:rPr lang="pt-PT" dirty="0" smtClean="0"/>
              <a:t>Stalemate;</a:t>
            </a:r>
          </a:p>
          <a:p>
            <a:pPr marL="990600" lvl="2" indent="-457200">
              <a:buFont typeface="+mj-lt"/>
              <a:buAutoNum type="arabicPeriod"/>
            </a:pPr>
            <a:r>
              <a:rPr lang="pt-PT" dirty="0" smtClean="0"/>
              <a:t>Promotion;</a:t>
            </a:r>
          </a:p>
          <a:p>
            <a:pPr marL="457200" indent="-457200">
              <a:buFont typeface="+mj-lt"/>
              <a:buAutoNum type="arabicPeriod"/>
            </a:pPr>
            <a:r>
              <a:rPr lang="pt-PT" dirty="0" smtClean="0"/>
              <a:t>Um jogo de xadrez é composto por um tabuleiro com uma disposição inicial de peças e por dois jogadores;</a:t>
            </a:r>
          </a:p>
          <a:p>
            <a:pPr marL="457200" indent="-457200">
              <a:buFont typeface="+mj-lt"/>
              <a:buAutoNum type="arabicPeriod"/>
            </a:pPr>
            <a:r>
              <a:rPr lang="pt-PT" dirty="0" smtClean="0"/>
              <a:t>No xadrez os jogadores identificam-se por “jogador com peças brancas” e “jogador com peças pretas”;</a:t>
            </a:r>
          </a:p>
          <a:p>
            <a:pPr marL="457200" indent="-457200">
              <a:buFont typeface="+mj-lt"/>
              <a:buAutoNum type="arabicPeriod"/>
            </a:pPr>
            <a:r>
              <a:rPr lang="pt-PT" dirty="0" smtClean="0"/>
              <a:t>O jogo inicia-se com o jogador das peças brancas;</a:t>
            </a:r>
          </a:p>
        </p:txBody>
      </p:sp>
    </p:spTree>
    <p:extLst>
      <p:ext uri="{BB962C8B-B14F-4D97-AF65-F5344CB8AC3E}">
        <p14:creationId xmlns:p14="http://schemas.microsoft.com/office/powerpoint/2010/main" val="4213418994"/>
      </p:ext>
    </p:extLst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ATEC_Template_pt">
  <a:themeElements>
    <a:clrScheme name="Volkswagen">
      <a:dk1>
        <a:srgbClr val="33434C"/>
      </a:dk1>
      <a:lt1>
        <a:srgbClr val="FFFFFF"/>
      </a:lt1>
      <a:dk2>
        <a:srgbClr val="73B1DD"/>
      </a:dk2>
      <a:lt2>
        <a:srgbClr val="CFD7D9"/>
      </a:lt2>
      <a:accent1>
        <a:srgbClr val="003C65"/>
      </a:accent1>
      <a:accent2>
        <a:srgbClr val="2274AC"/>
      </a:accent2>
      <a:accent3>
        <a:srgbClr val="8994A0"/>
      </a:accent3>
      <a:accent4>
        <a:srgbClr val="005D4D"/>
      </a:accent4>
      <a:accent5>
        <a:srgbClr val="730019"/>
      </a:accent5>
      <a:accent6>
        <a:srgbClr val="FF871F"/>
      </a:accent6>
      <a:hlink>
        <a:srgbClr val="33434C"/>
      </a:hlink>
      <a:folHlink>
        <a:srgbClr val="8994A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>
          <a:defRPr sz="2100" dirty="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VW_Basic_Template_en</Template>
  <TotalTime>0</TotalTime>
  <Words>1066</Words>
  <Application>Microsoft Office PowerPoint</Application>
  <PresentationFormat>A4 Paper (210x297 mm)</PresentationFormat>
  <Paragraphs>307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VW Headline OT-Book</vt:lpstr>
      <vt:lpstr>ATEC_Template_pt</vt:lpstr>
      <vt:lpstr>Programação Computadores – Orientada Objectos 5413</vt:lpstr>
      <vt:lpstr>Introdução</vt:lpstr>
      <vt:lpstr>Introdução Framework .NET</vt:lpstr>
      <vt:lpstr>Introdução Framework .NET</vt:lpstr>
      <vt:lpstr>Introdução Framework .NET</vt:lpstr>
      <vt:lpstr>Exercícios</vt:lpstr>
      <vt:lpstr>Classes</vt:lpstr>
      <vt:lpstr>Classes – Métodos “get”/”set”</vt:lpstr>
      <vt:lpstr>Classes - Properties</vt:lpstr>
      <vt:lpstr>Classes - Métodos</vt:lpstr>
      <vt:lpstr>Classes – Exemplo utilização</vt:lpstr>
      <vt:lpstr>Classes – Exercício</vt:lpstr>
      <vt:lpstr>Classes – Exercício</vt:lpstr>
      <vt:lpstr>Classes – Exercício</vt:lpstr>
      <vt:lpstr>Classes – Encapsulamento</vt:lpstr>
      <vt:lpstr>Classes – Polimorfismo</vt:lpstr>
      <vt:lpstr>Classes – Abstract</vt:lpstr>
      <vt:lpstr>Classes – Exercício</vt:lpstr>
      <vt:lpstr>Classes – Exercício</vt:lpstr>
      <vt:lpstr>Classes – Exercício</vt:lpstr>
      <vt:lpstr>Classes – Exercício Interfaces</vt:lpstr>
      <vt:lpstr>Projecto – Fase I</vt:lpstr>
      <vt:lpstr>Ficha de avaliação</vt:lpstr>
      <vt:lpstr>Projecto – Exercício auxiliar</vt:lpstr>
      <vt:lpstr>Projecto – Fase I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2013-03-13T09:54:52Z</dcterms:created>
  <dcterms:modified xsi:type="dcterms:W3CDTF">2015-05-25T21:36:58Z</dcterms:modified>
</cp:coreProperties>
</file>