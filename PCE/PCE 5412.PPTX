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98" r:id="rId2"/>
    <p:sldId id="319" r:id="rId3"/>
    <p:sldId id="324" r:id="rId4"/>
    <p:sldId id="325" r:id="rId5"/>
    <p:sldId id="333" r:id="rId6"/>
    <p:sldId id="335" r:id="rId7"/>
    <p:sldId id="326" r:id="rId8"/>
    <p:sldId id="327" r:id="rId9"/>
    <p:sldId id="336" r:id="rId10"/>
    <p:sldId id="337" r:id="rId11"/>
    <p:sldId id="338" r:id="rId12"/>
    <p:sldId id="341" r:id="rId13"/>
    <p:sldId id="342" r:id="rId14"/>
    <p:sldId id="339" r:id="rId15"/>
    <p:sldId id="340" r:id="rId16"/>
    <p:sldId id="343" r:id="rId17"/>
    <p:sldId id="344" r:id="rId18"/>
    <p:sldId id="345" r:id="rId19"/>
  </p:sldIdLst>
  <p:sldSz cx="9906000" cy="6858000" type="A4"/>
  <p:notesSz cx="6794500" cy="9931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">
          <p15:clr>
            <a:srgbClr val="A4A3A4"/>
          </p15:clr>
        </p15:guide>
        <p15:guide id="2" orient="horz" pos="733">
          <p15:clr>
            <a:srgbClr val="A4A3A4"/>
          </p15:clr>
        </p15:guide>
        <p15:guide id="3" orient="horz" pos="409">
          <p15:clr>
            <a:srgbClr val="A4A3A4"/>
          </p15:clr>
        </p15:guide>
        <p15:guide id="4" orient="horz" pos="966">
          <p15:clr>
            <a:srgbClr val="A4A3A4"/>
          </p15:clr>
        </p15:guide>
        <p15:guide id="5" orient="horz" pos="3878">
          <p15:clr>
            <a:srgbClr val="A4A3A4"/>
          </p15:clr>
        </p15:guide>
        <p15:guide id="6" orient="horz" pos="4034">
          <p15:clr>
            <a:srgbClr val="A4A3A4"/>
          </p15:clr>
        </p15:guide>
        <p15:guide id="7" pos="5660">
          <p15:clr>
            <a:srgbClr val="A4A3A4"/>
          </p15:clr>
        </p15:guide>
        <p15:guide id="8" pos="149">
          <p15:clr>
            <a:srgbClr val="A4A3A4"/>
          </p15:clr>
        </p15:guide>
        <p15:guide id="9" pos="6090">
          <p15:clr>
            <a:srgbClr val="A4A3A4"/>
          </p15:clr>
        </p15:guide>
        <p15:guide id="10" pos="65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3C65"/>
    <a:srgbClr val="2274AC"/>
    <a:srgbClr val="FFC000"/>
    <a:srgbClr val="007DC5"/>
    <a:srgbClr val="FFD100"/>
    <a:srgbClr val="C82D20"/>
    <a:srgbClr val="51AE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26" autoAdjust="0"/>
    <p:restoredTop sz="96691" autoAdjust="0"/>
  </p:normalViewPr>
  <p:slideViewPr>
    <p:cSldViewPr snapToGrid="0">
      <p:cViewPr varScale="1">
        <p:scale>
          <a:sx n="88" d="100"/>
          <a:sy n="88" d="100"/>
        </p:scale>
        <p:origin x="1458" y="84"/>
      </p:cViewPr>
      <p:guideLst>
        <p:guide orient="horz" pos="216"/>
        <p:guide orient="horz" pos="733"/>
        <p:guide orient="horz" pos="409"/>
        <p:guide orient="horz" pos="966"/>
        <p:guide orient="horz" pos="3878"/>
        <p:guide orient="horz" pos="4034"/>
        <p:guide pos="5660"/>
        <p:guide pos="149"/>
        <p:guide pos="6090"/>
        <p:guide pos="65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366" y="60"/>
      </p:cViewPr>
      <p:guideLst>
        <p:guide orient="horz" pos="3128"/>
        <p:guide pos="214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810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5DDB26-5A39-475D-920B-32AAE1E9FCB7}" type="datetimeFigureOut">
              <a:rPr lang="pt-PT" smtClean="0"/>
              <a:t>15-03-2015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2925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8100" y="9432925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CD56E-ECDA-402E-9936-59A7DBA7136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557134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934A03-512B-4175-A05C-244CAC0C2483}" type="datetimeFigureOut">
              <a:rPr lang="de-DE" smtClean="0"/>
              <a:t>15.03.2015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708025" y="744538"/>
            <a:ext cx="537845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8645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A26462-A666-4A36-A2AC-732EB029069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0277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EC slide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1019175" y="4425950"/>
            <a:ext cx="7953375" cy="7493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>
            <a:lvl1pPr algn="ctr">
              <a:defRPr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noProof="0" dirty="0" smtClean="0"/>
              <a:t>TÍTULO APRESENTAÇÃO</a:t>
            </a:r>
            <a:endParaRPr lang="de-DE" noProof="0" dirty="0" smtClean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9906000" cy="6270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5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842" y="2045603"/>
            <a:ext cx="5400000" cy="1414725"/>
          </a:xfrm>
          <a:prstGeom prst="rect">
            <a:avLst/>
          </a:prstGeom>
        </p:spPr>
      </p:pic>
      <p:sp>
        <p:nvSpPr>
          <p:cNvPr id="8" name="Rectangle 3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1019175" y="5248800"/>
            <a:ext cx="7953375" cy="530225"/>
          </a:xfrm>
        </p:spPr>
        <p:txBody>
          <a:bodyPr anchor="b"/>
          <a:lstStyle>
            <a:lvl1pPr marL="0" marR="0" indent="0" algn="ctr" defTabSz="914400" rtl="0" eaLnBrk="1" fontAlgn="base" latinLnBrk="0" hangingPunct="1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lang="en-US" sz="2800" b="0" i="0" u="none" strike="noStrike" baseline="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i="0" u="none" strike="noStrike" baseline="0" dirty="0" smtClean="0">
                <a:solidFill>
                  <a:srgbClr val="33434C"/>
                </a:solidFill>
                <a:latin typeface="+mn-lt"/>
              </a:rPr>
              <a:t>                         Arial Headings 28 </a:t>
            </a:r>
            <a:r>
              <a:rPr lang="en-US" sz="2800" b="0" i="0" u="none" strike="noStrike" baseline="0" dirty="0" err="1" smtClean="0">
                <a:solidFill>
                  <a:srgbClr val="33434C"/>
                </a:solidFill>
                <a:latin typeface="+mn-lt"/>
              </a:rPr>
              <a:t>pt</a:t>
            </a:r>
            <a:endParaRPr lang="en-US" sz="2800" b="0" i="0" u="none" strike="noStrike" baseline="0" dirty="0" smtClean="0">
              <a:solidFill>
                <a:srgbClr val="33434C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644406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EC  Slid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1031874" y="1195660"/>
            <a:ext cx="7953375" cy="4932362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0000"/>
                </a:solidFill>
              </a:defRPr>
            </a:lvl1pPr>
            <a:lvl2pPr>
              <a:defRPr sz="2000">
                <a:solidFill>
                  <a:srgbClr val="000000"/>
                </a:solidFill>
              </a:defRPr>
            </a:lvl2pPr>
            <a:lvl3pPr>
              <a:defRPr sz="1800">
                <a:solidFill>
                  <a:srgbClr val="000000"/>
                </a:solidFill>
              </a:defRPr>
            </a:lvl3pPr>
            <a:lvl4pPr>
              <a:defRPr sz="2100">
                <a:solidFill>
                  <a:srgbClr val="000000"/>
                </a:solidFill>
              </a:defRPr>
            </a:lvl4pPr>
            <a:lvl5pPr>
              <a:defRPr sz="2100">
                <a:solidFill>
                  <a:srgbClr val="000000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Arial 24</a:t>
            </a:r>
          </a:p>
          <a:p>
            <a:pPr lvl="1"/>
            <a:r>
              <a:rPr lang="en-US" dirty="0" smtClean="0"/>
              <a:t>Arial 20</a:t>
            </a:r>
          </a:p>
          <a:p>
            <a:pPr lvl="2"/>
            <a:r>
              <a:rPr lang="en-US" dirty="0" smtClean="0"/>
              <a:t>Arial 18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de-DE" dirty="0"/>
          </a:p>
        </p:txBody>
      </p:sp>
      <p:sp>
        <p:nvSpPr>
          <p:cNvPr id="11" name="Rectangle 4"/>
          <p:cNvSpPr txBox="1">
            <a:spLocks noChangeArrowheads="1"/>
          </p:cNvSpPr>
          <p:nvPr userDrawn="1"/>
        </p:nvSpPr>
        <p:spPr bwMode="auto">
          <a:xfrm>
            <a:off x="2699200" y="6518422"/>
            <a:ext cx="4445000" cy="28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marL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tabLst>
                <a:tab pos="1003300" algn="l"/>
                <a:tab pos="2751138" algn="l"/>
              </a:tabLst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 smtClean="0"/>
              <a:t>ATEC – PCE 5412</a:t>
            </a:r>
            <a:endParaRPr lang="de-DE" dirty="0"/>
          </a:p>
        </p:txBody>
      </p:sp>
      <p:sp>
        <p:nvSpPr>
          <p:cNvPr id="12" name="Rectangle 2"/>
          <p:cNvSpPr txBox="1">
            <a:spLocks noChangeArrowheads="1"/>
          </p:cNvSpPr>
          <p:nvPr userDrawn="1"/>
        </p:nvSpPr>
        <p:spPr bwMode="auto">
          <a:xfrm>
            <a:off x="1031875" y="306535"/>
            <a:ext cx="7953375" cy="900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103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e-DE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 smtClean="0"/>
              <a:t>Arial 28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548091249"/>
      </p:ext>
    </p:extLst>
  </p:cSld>
  <p:clrMapOvr>
    <a:masterClrMapping/>
  </p:clrMapOvr>
  <p:transition>
    <p:cut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 smtClean="0"/>
              <a:t>Click to add title style</a:t>
            </a:r>
            <a:endParaRPr lang="pt-PT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 smtClean="0"/>
              <a:t>ATEC – PCE 5412</a:t>
            </a:r>
            <a:endParaRPr lang="de-D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1031874" y="1195660"/>
            <a:ext cx="7953375" cy="4932362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0000"/>
                </a:solidFill>
              </a:defRPr>
            </a:lvl1pPr>
            <a:lvl2pPr>
              <a:defRPr sz="2000">
                <a:solidFill>
                  <a:srgbClr val="000000"/>
                </a:solidFill>
              </a:defRPr>
            </a:lvl2pPr>
            <a:lvl3pPr>
              <a:defRPr sz="1800">
                <a:solidFill>
                  <a:srgbClr val="000000"/>
                </a:solidFill>
              </a:defRPr>
            </a:lvl3pPr>
            <a:lvl4pPr>
              <a:defRPr sz="2100">
                <a:solidFill>
                  <a:srgbClr val="000000"/>
                </a:solidFill>
              </a:defRPr>
            </a:lvl4pPr>
            <a:lvl5pPr>
              <a:defRPr sz="2100">
                <a:solidFill>
                  <a:srgbClr val="000000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add text</a:t>
            </a:r>
          </a:p>
          <a:p>
            <a:pPr lvl="1"/>
            <a:r>
              <a:rPr lang="en-US" dirty="0" smtClean="0"/>
              <a:t>Arial 20</a:t>
            </a:r>
          </a:p>
          <a:p>
            <a:pPr lvl="2"/>
            <a:r>
              <a:rPr lang="en-US" dirty="0" smtClean="0"/>
              <a:t>Arial 18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90845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19175" y="287338"/>
            <a:ext cx="7953375" cy="900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 smtClean="0"/>
              <a:t>Arial 28</a:t>
            </a:r>
          </a:p>
        </p:txBody>
      </p:sp>
      <p:sp>
        <p:nvSpPr>
          <p:cNvPr id="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31875" y="1236663"/>
            <a:ext cx="7953375" cy="4919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3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100" b="0" i="0" u="none" strike="noStrike" kern="0" cap="none" spc="0" normalizeH="0" baseline="0" noProof="0" dirty="0" smtClean="0">
                <a:ln>
                  <a:noFill/>
                </a:ln>
                <a:solidFill>
                  <a:srgbClr val="33434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Arial 24</a:t>
            </a:r>
          </a:p>
          <a:p>
            <a:pPr marL="266700" marR="0" lvl="1" indent="-265113" algn="l" defTabSz="914400" rtl="0" eaLnBrk="1" fontAlgn="base" latinLnBrk="0" hangingPunct="1">
              <a:lnSpc>
                <a:spcPct val="103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VW Headline OT-Book" pitchFamily="34" charset="0"/>
              <a:buChar char="–"/>
              <a:tabLst/>
              <a:defRPr/>
            </a:pPr>
            <a:r>
              <a:rPr kumimoji="0" lang="de-DE" sz="2100" b="0" i="0" u="none" strike="noStrike" kern="0" cap="none" spc="0" normalizeH="0" baseline="0" noProof="0" dirty="0" smtClean="0">
                <a:ln>
                  <a:noFill/>
                </a:ln>
                <a:solidFill>
                  <a:srgbClr val="33434C"/>
                </a:solidFill>
                <a:effectLst/>
                <a:uLnTx/>
                <a:uFillTx/>
                <a:latin typeface="+mn-lt"/>
              </a:rPr>
              <a:t>Arial 20</a:t>
            </a:r>
          </a:p>
          <a:p>
            <a:pPr marL="533400" marR="0" lvl="2" indent="-265113" algn="l" defTabSz="914400" rtl="0" eaLnBrk="1" fontAlgn="base" latinLnBrk="0" hangingPunct="1">
              <a:lnSpc>
                <a:spcPct val="103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VW Headline OT-Book" pitchFamily="34" charset="0"/>
              <a:buChar char="–"/>
              <a:tabLst/>
              <a:defRPr/>
            </a:pPr>
            <a:r>
              <a:rPr kumimoji="0" lang="de-DE" sz="2100" b="0" i="0" u="none" strike="noStrike" kern="0" cap="none" spc="0" normalizeH="0" baseline="0" noProof="0" dirty="0" smtClean="0">
                <a:ln>
                  <a:noFill/>
                </a:ln>
                <a:solidFill>
                  <a:srgbClr val="33434C"/>
                </a:solidFill>
                <a:effectLst/>
                <a:uLnTx/>
                <a:uFillTx/>
                <a:latin typeface="+mn-lt"/>
              </a:rPr>
              <a:t>Arial 18</a:t>
            </a:r>
          </a:p>
        </p:txBody>
      </p:sp>
      <p:sp>
        <p:nvSpPr>
          <p:cNvPr id="15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11500" y="6499225"/>
            <a:ext cx="4445000" cy="28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ct val="0"/>
              </a:spcBef>
              <a:tabLst>
                <a:tab pos="1003300" algn="l"/>
                <a:tab pos="2751138" algn="l"/>
              </a:tabLst>
              <a:defRPr sz="1000" b="1"/>
            </a:lvl1pPr>
          </a:lstStyle>
          <a:p>
            <a:r>
              <a:rPr lang="de-DE" dirty="0" smtClean="0"/>
              <a:t>ATEC – PCE 5412</a:t>
            </a:r>
            <a:endParaRPr lang="de-DE" dirty="0"/>
          </a:p>
        </p:txBody>
      </p:sp>
      <p:sp>
        <p:nvSpPr>
          <p:cNvPr id="16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79593" y="6490493"/>
            <a:ext cx="1611313" cy="28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000" b="1"/>
            </a:lvl1pPr>
          </a:lstStyle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17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27113" y="6499225"/>
            <a:ext cx="900112" cy="28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000"/>
            </a:lvl1pPr>
          </a:lstStyle>
          <a:p>
            <a:r>
              <a:rPr lang="de-DE" dirty="0" smtClean="0"/>
              <a:t>Page </a:t>
            </a:r>
            <a:fld id="{A5BB97A9-7D72-4F8F-8BC5-4E547C3F4DC5}" type="slidenum">
              <a:rPr lang="de-DE" smtClean="0"/>
              <a:pPr/>
              <a:t>‹#›</a:t>
            </a:fld>
            <a:endParaRPr lang="de-DE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684312"/>
            <a:ext cx="9864000" cy="0"/>
          </a:xfrm>
          <a:prstGeom prst="line">
            <a:avLst/>
          </a:prstGeom>
          <a:ln w="254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 userDrawn="1"/>
        </p:nvCxnSpPr>
        <p:spPr>
          <a:xfrm>
            <a:off x="0" y="6381328"/>
            <a:ext cx="9900000" cy="0"/>
          </a:xfrm>
          <a:prstGeom prst="line">
            <a:avLst/>
          </a:prstGeom>
          <a:ln w="254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7124" y="247555"/>
            <a:ext cx="1440000" cy="377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366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9" r:id="rId3"/>
  </p:sldLayoutIdLst>
  <p:timing>
    <p:tnLst>
      <p:par>
        <p:cTn id="1" dur="indefinite" restart="never" nodeType="tmRoot"/>
      </p:par>
    </p:tnLst>
  </p:timing>
  <p:hf hdr="0"/>
  <p:txStyles>
    <p:titleStyle>
      <a:lvl1pPr algn="l" defTabSz="914400" rtl="0" eaLnBrk="1" latinLnBrk="0" hangingPunct="1">
        <a:lnSpc>
          <a:spcPct val="103000"/>
        </a:lnSpc>
        <a:spcBef>
          <a:spcPct val="0"/>
        </a:spcBef>
        <a:buNone/>
        <a:defRPr sz="280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base" latinLnBrk="0" hangingPunct="1">
        <a:lnSpc>
          <a:spcPct val="103000"/>
        </a:lnSpc>
        <a:spcBef>
          <a:spcPct val="50000"/>
        </a:spcBef>
        <a:spcAft>
          <a:spcPct val="0"/>
        </a:spcAft>
        <a:buClrTx/>
        <a:buSzTx/>
        <a:buFontTx/>
        <a:buNone/>
        <a:tabLst/>
        <a:defRPr sz="24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266700" marR="0" indent="-265113" algn="l" defTabSz="914400" rtl="0" eaLnBrk="1" fontAlgn="base" latinLnBrk="0" hangingPunct="1">
        <a:lnSpc>
          <a:spcPct val="103000"/>
        </a:lnSpc>
        <a:spcBef>
          <a:spcPct val="50000"/>
        </a:spcBef>
        <a:spcAft>
          <a:spcPct val="0"/>
        </a:spcAft>
        <a:buClrTx/>
        <a:buSzTx/>
        <a:buFont typeface="VW Headline OT-Book" pitchFamily="34" charset="0"/>
        <a:buChar char="–"/>
        <a:tabLst/>
        <a:defRPr sz="5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533400" marR="0" indent="-265113" algn="l" defTabSz="914400" rtl="0" eaLnBrk="1" fontAlgn="base" latinLnBrk="0" hangingPunct="1">
        <a:lnSpc>
          <a:spcPct val="103000"/>
        </a:lnSpc>
        <a:spcBef>
          <a:spcPct val="50000"/>
        </a:spcBef>
        <a:spcAft>
          <a:spcPct val="0"/>
        </a:spcAft>
        <a:buClrTx/>
        <a:buSzTx/>
        <a:buFont typeface="VW Headline OT-Book" pitchFamily="34" charset="0"/>
        <a:buChar char="–"/>
        <a:tabLst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784225" marR="0" indent="-249238" algn="l" defTabSz="914400" rtl="0" eaLnBrk="1" fontAlgn="base" latinLnBrk="0" hangingPunct="1">
        <a:lnSpc>
          <a:spcPct val="103000"/>
        </a:lnSpc>
        <a:spcBef>
          <a:spcPct val="50000"/>
        </a:spcBef>
        <a:spcAft>
          <a:spcPct val="0"/>
        </a:spcAft>
        <a:buClrTx/>
        <a:buSzTx/>
        <a:buFont typeface="VW Headline OT-Book" pitchFamily="34" charset="0"/>
        <a:buChar char="–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047750" marR="0" indent="-261938" algn="l" defTabSz="914400" rtl="0" eaLnBrk="1" fontAlgn="base" latinLnBrk="0" hangingPunct="1">
        <a:lnSpc>
          <a:spcPct val="103000"/>
        </a:lnSpc>
        <a:spcBef>
          <a:spcPct val="50000"/>
        </a:spcBef>
        <a:spcAft>
          <a:spcPct val="0"/>
        </a:spcAft>
        <a:buClrTx/>
        <a:buSzTx/>
        <a:buFont typeface="VW Headline OT-Book" pitchFamily="34" charset="0"/>
        <a:buChar char="–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tec-avaz/atec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 smtClean="0">
                <a:solidFill>
                  <a:schemeClr val="bg1">
                    <a:lumMod val="50000"/>
                  </a:schemeClr>
                </a:solidFill>
              </a:rPr>
              <a:t>Programação Computadores - estruturada 5412</a:t>
            </a:r>
            <a:endParaRPr lang="pt-PT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5519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75" y="287276"/>
            <a:ext cx="7953375" cy="900112"/>
          </a:xfrm>
        </p:spPr>
        <p:txBody>
          <a:bodyPr/>
          <a:lstStyle/>
          <a:p>
            <a:r>
              <a:rPr lang="pt-PT" dirty="0" smtClean="0">
                <a:solidFill>
                  <a:schemeClr val="bg1">
                    <a:lumMod val="50000"/>
                  </a:schemeClr>
                </a:solidFill>
              </a:rPr>
              <a:t>Introdução</a:t>
            </a:r>
            <a:endParaRPr lang="pt-PT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031875" y="1161675"/>
            <a:ext cx="7953375" cy="4994650"/>
          </a:xfrm>
        </p:spPr>
        <p:txBody>
          <a:bodyPr/>
          <a:lstStyle/>
          <a:p>
            <a:r>
              <a:rPr lang="pt-PT" sz="1800" dirty="0"/>
              <a:t>Diferenciar as metodologias de programação utilizadas e as motivações dessas metodologias</a:t>
            </a:r>
            <a:r>
              <a:rPr lang="pt-PT" sz="1800" dirty="0" smtClean="0"/>
              <a:t>.</a:t>
            </a:r>
          </a:p>
          <a:p>
            <a:endParaRPr lang="pt-PT" sz="1800" dirty="0"/>
          </a:p>
          <a:p>
            <a:r>
              <a:rPr lang="pt-PT" sz="1800" dirty="0"/>
              <a:t>Explicitar o comportamento de um programa</a:t>
            </a:r>
            <a:r>
              <a:rPr lang="pt-PT" sz="1800" dirty="0" smtClean="0"/>
              <a:t>.</a:t>
            </a:r>
          </a:p>
          <a:p>
            <a:endParaRPr lang="pt-PT" sz="1800" dirty="0"/>
          </a:p>
          <a:p>
            <a:r>
              <a:rPr lang="pt-PT" sz="1800" dirty="0"/>
              <a:t>Criar programas bem organizados e obedecendo a um certo número de convenções</a:t>
            </a:r>
            <a:r>
              <a:rPr lang="pt-PT" sz="1800" dirty="0" smtClean="0"/>
              <a:t>.</a:t>
            </a:r>
          </a:p>
          <a:p>
            <a:endParaRPr lang="pt-PT" sz="1800" dirty="0"/>
          </a:p>
          <a:p>
            <a:r>
              <a:rPr lang="pt-PT" sz="1800" dirty="0"/>
              <a:t>Utilizar corretamente as estruturas de controlo</a:t>
            </a:r>
            <a:r>
              <a:rPr lang="pt-PT" sz="1800" dirty="0" smtClean="0"/>
              <a:t>.</a:t>
            </a:r>
          </a:p>
          <a:p>
            <a:endParaRPr lang="pt-PT" sz="1800" dirty="0"/>
          </a:p>
          <a:p>
            <a:r>
              <a:rPr lang="pt-PT" sz="1800" dirty="0"/>
              <a:t>Definir o conceito de </a:t>
            </a:r>
            <a:r>
              <a:rPr lang="pt-PT" sz="1800" dirty="0" err="1"/>
              <a:t>subrotina</a:t>
            </a:r>
            <a:r>
              <a:rPr lang="pt-PT" sz="1800" dirty="0" smtClean="0"/>
              <a:t>.</a:t>
            </a:r>
          </a:p>
          <a:p>
            <a:endParaRPr lang="pt-PT" sz="1800" dirty="0"/>
          </a:p>
          <a:p>
            <a:r>
              <a:rPr lang="pt-PT" sz="1800" dirty="0"/>
              <a:t>Utilizar adequadamente estruturas de dados.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dirty="0" smtClean="0"/>
              <a:t>www.atec.pt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A5BB97A9-7D72-4F8F-8BC5-4E547C3F4DC5}" type="slidenum">
              <a:rPr lang="de-DE" smtClean="0"/>
              <a:pPr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2308857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PT" dirty="0" smtClean="0"/>
              <a:t>Repositório de exercícios</a:t>
            </a:r>
          </a:p>
          <a:p>
            <a:endParaRPr lang="pt-PT" dirty="0" smtClean="0"/>
          </a:p>
          <a:p>
            <a:r>
              <a:rPr lang="pt-PT" dirty="0"/>
              <a:t>	</a:t>
            </a:r>
            <a:r>
              <a:rPr lang="pt-PT" dirty="0" smtClean="0">
                <a:hlinkClick r:id="rId2"/>
              </a:rPr>
              <a:t>https</a:t>
            </a:r>
            <a:r>
              <a:rPr lang="pt-PT" dirty="0">
                <a:hlinkClick r:id="rId2"/>
              </a:rPr>
              <a:t>://</a:t>
            </a:r>
            <a:r>
              <a:rPr lang="pt-PT" dirty="0" smtClean="0">
                <a:hlinkClick r:id="rId2"/>
              </a:rPr>
              <a:t>github.com/atec-avaz/atec</a:t>
            </a:r>
            <a:endParaRPr lang="pt-PT" dirty="0" smtClean="0"/>
          </a:p>
          <a:p>
            <a:endParaRPr lang="pt-PT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Repositório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34806595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PT" dirty="0" smtClean="0"/>
              <a:t>Organização de código (.h </a:t>
            </a:r>
            <a:r>
              <a:rPr lang="pt-PT" dirty="0" err="1" smtClean="0"/>
              <a:t>vs</a:t>
            </a:r>
            <a:r>
              <a:rPr lang="pt-PT" dirty="0" smtClean="0"/>
              <a:t> .</a:t>
            </a:r>
            <a:r>
              <a:rPr lang="pt-PT" dirty="0" err="1" smtClean="0"/>
              <a:t>cpp</a:t>
            </a:r>
            <a:r>
              <a:rPr lang="pt-PT" dirty="0" smtClean="0"/>
              <a:t>)</a:t>
            </a:r>
          </a:p>
          <a:p>
            <a:r>
              <a:rPr lang="pt-PT" dirty="0" smtClean="0"/>
              <a:t>Apontadores</a:t>
            </a:r>
          </a:p>
          <a:p>
            <a:r>
              <a:rPr lang="pt-PT" dirty="0" smtClean="0"/>
              <a:t>Listas ligadas / duplamente ligadas / circulares</a:t>
            </a:r>
          </a:p>
          <a:p>
            <a:r>
              <a:rPr lang="pt-PT" dirty="0" smtClean="0"/>
              <a:t>Ficheiros</a:t>
            </a:r>
          </a:p>
          <a:p>
            <a:endParaRPr lang="pt-PT" b="1" dirty="0" smtClean="0"/>
          </a:p>
          <a:p>
            <a:r>
              <a:rPr lang="pt-PT" b="1" dirty="0" smtClean="0"/>
              <a:t>Projeto da UFCD</a:t>
            </a:r>
            <a:r>
              <a:rPr lang="pt-PT" dirty="0" smtClean="0"/>
              <a:t>: Jogo da Glória</a:t>
            </a:r>
          </a:p>
          <a:p>
            <a:r>
              <a:rPr lang="pt-PT" dirty="0" smtClean="0"/>
              <a:t>	Objetivos a definir durante a UFCD, tais como:</a:t>
            </a:r>
          </a:p>
          <a:p>
            <a:r>
              <a:rPr lang="pt-PT" dirty="0"/>
              <a:t>	</a:t>
            </a:r>
            <a:r>
              <a:rPr lang="pt-PT" dirty="0" smtClean="0"/>
              <a:t>	- tipo de jogo, tabuleiro, jogadores, regras …</a:t>
            </a:r>
            <a:endParaRPr lang="pt-PT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Tópicos a abordar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050257550"/>
      </p:ext>
    </p:extLst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 smtClean="0"/>
              <a:t>Header</a:t>
            </a:r>
            <a:r>
              <a:rPr lang="pt-PT" dirty="0" smtClean="0"/>
              <a:t> .h </a:t>
            </a:r>
            <a:r>
              <a:rPr lang="pt-PT" dirty="0" err="1" smtClean="0"/>
              <a:t>vs</a:t>
            </a:r>
            <a:r>
              <a:rPr lang="pt-PT" dirty="0" smtClean="0"/>
              <a:t> </a:t>
            </a:r>
            <a:r>
              <a:rPr lang="pt-PT" dirty="0" err="1" smtClean="0"/>
              <a:t>Source</a:t>
            </a:r>
            <a:r>
              <a:rPr lang="pt-PT" dirty="0" smtClean="0"/>
              <a:t> .</a:t>
            </a:r>
            <a:r>
              <a:rPr lang="pt-PT" dirty="0" err="1" smtClean="0"/>
              <a:t>cpp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41910589"/>
      </p:ext>
    </p:extLst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PT" dirty="0" smtClean="0"/>
              <a:t>Exemplo demonstrativo na máquina virtual</a:t>
            </a:r>
            <a:endParaRPr lang="pt-PT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 smtClean="0"/>
              <a:t>Header</a:t>
            </a:r>
            <a:r>
              <a:rPr lang="pt-PT" dirty="0" smtClean="0"/>
              <a:t> .h </a:t>
            </a:r>
            <a:r>
              <a:rPr lang="pt-PT" dirty="0" err="1" smtClean="0"/>
              <a:t>vs</a:t>
            </a:r>
            <a:r>
              <a:rPr lang="pt-PT" dirty="0" smtClean="0"/>
              <a:t> </a:t>
            </a:r>
            <a:r>
              <a:rPr lang="pt-PT" dirty="0" err="1" smtClean="0"/>
              <a:t>Source</a:t>
            </a:r>
            <a:r>
              <a:rPr lang="pt-PT" dirty="0" smtClean="0"/>
              <a:t> .</a:t>
            </a:r>
            <a:r>
              <a:rPr lang="pt-PT" dirty="0" err="1" smtClean="0"/>
              <a:t>cpp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745801156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PT" b="1" dirty="0" smtClean="0"/>
              <a:t>1- </a:t>
            </a:r>
            <a:r>
              <a:rPr lang="pt-PT" dirty="0" smtClean="0"/>
              <a:t>Onde estás armazenado?</a:t>
            </a:r>
          </a:p>
          <a:p>
            <a:pPr marL="457200" indent="-457200">
              <a:buFont typeface="+mj-lt"/>
              <a:buAutoNum type="arabicPeriod"/>
            </a:pPr>
            <a:endParaRPr lang="pt-PT" b="1" dirty="0"/>
          </a:p>
          <a:p>
            <a:r>
              <a:rPr lang="pt-PT" dirty="0" smtClean="0"/>
              <a:t>Operador &amp; </a:t>
            </a:r>
          </a:p>
          <a:p>
            <a:r>
              <a:rPr lang="pt-PT" b="1" dirty="0" smtClean="0"/>
              <a:t>Exemplo</a:t>
            </a:r>
            <a:r>
              <a:rPr lang="pt-PT" dirty="0" smtClean="0"/>
              <a:t>:</a:t>
            </a:r>
          </a:p>
          <a:p>
            <a:r>
              <a:rPr lang="pt-PT" dirty="0" smtClean="0"/>
              <a:t>	</a:t>
            </a:r>
            <a:r>
              <a:rPr lang="pt-PT" dirty="0" err="1" smtClean="0"/>
              <a:t>int</a:t>
            </a:r>
            <a:r>
              <a:rPr lang="pt-PT" dirty="0" smtClean="0"/>
              <a:t> </a:t>
            </a:r>
            <a:r>
              <a:rPr lang="pt-PT" dirty="0" err="1" smtClean="0"/>
              <a:t>myVar</a:t>
            </a:r>
            <a:r>
              <a:rPr lang="pt-PT" dirty="0" smtClean="0"/>
              <a:t> = 7850;</a:t>
            </a:r>
          </a:p>
          <a:p>
            <a:r>
              <a:rPr lang="pt-PT" dirty="0" smtClean="0"/>
              <a:t>	</a:t>
            </a:r>
            <a:r>
              <a:rPr lang="pt-PT" dirty="0" err="1" smtClean="0"/>
              <a:t>cout</a:t>
            </a:r>
            <a:r>
              <a:rPr lang="pt-PT" dirty="0" smtClean="0"/>
              <a:t> &lt;&lt; &amp;</a:t>
            </a:r>
            <a:r>
              <a:rPr lang="pt-PT" dirty="0" err="1" smtClean="0"/>
              <a:t>myVar</a:t>
            </a:r>
            <a:r>
              <a:rPr lang="pt-PT" dirty="0" smtClean="0"/>
              <a:t> &lt;&lt; </a:t>
            </a:r>
            <a:r>
              <a:rPr lang="pt-PT" dirty="0" err="1" smtClean="0"/>
              <a:t>endl</a:t>
            </a:r>
            <a:r>
              <a:rPr lang="pt-PT" dirty="0" smtClean="0"/>
              <a:t>;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Apontadores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895020282"/>
      </p:ext>
    </p:extLst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8</a:t>
            </a:fld>
            <a:endParaRPr lang="de-D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PT" b="1" dirty="0" smtClean="0"/>
              <a:t>2</a:t>
            </a:r>
            <a:r>
              <a:rPr lang="pt-PT" dirty="0" smtClean="0"/>
              <a:t> - O que tens armazenado?</a:t>
            </a:r>
          </a:p>
          <a:p>
            <a:endParaRPr lang="pt-PT" dirty="0"/>
          </a:p>
          <a:p>
            <a:r>
              <a:rPr lang="pt-PT" dirty="0" smtClean="0"/>
              <a:t>Operador *</a:t>
            </a:r>
          </a:p>
          <a:p>
            <a:r>
              <a:rPr lang="pt-PT" b="1" dirty="0" smtClean="0"/>
              <a:t>Exemplo:</a:t>
            </a:r>
          </a:p>
          <a:p>
            <a:r>
              <a:rPr lang="pt-PT" dirty="0" err="1" smtClean="0"/>
              <a:t>int</a:t>
            </a:r>
            <a:r>
              <a:rPr lang="pt-PT" dirty="0" smtClean="0"/>
              <a:t> </a:t>
            </a:r>
            <a:r>
              <a:rPr lang="pt-PT" dirty="0" err="1" smtClean="0"/>
              <a:t>myVar</a:t>
            </a:r>
            <a:r>
              <a:rPr lang="pt-PT" dirty="0" smtClean="0"/>
              <a:t> = 7850;</a:t>
            </a:r>
          </a:p>
          <a:p>
            <a:r>
              <a:rPr lang="pt-PT" dirty="0" err="1" smtClean="0"/>
              <a:t>int</a:t>
            </a:r>
            <a:r>
              <a:rPr lang="pt-PT" dirty="0" smtClean="0"/>
              <a:t> *hacker;</a:t>
            </a:r>
          </a:p>
          <a:p>
            <a:r>
              <a:rPr lang="pt-PT" dirty="0" smtClean="0"/>
              <a:t>hacker = &amp;</a:t>
            </a:r>
            <a:r>
              <a:rPr lang="pt-PT" dirty="0" err="1" smtClean="0"/>
              <a:t>myVar</a:t>
            </a:r>
            <a:r>
              <a:rPr lang="pt-PT" dirty="0" smtClean="0"/>
              <a:t>;</a:t>
            </a:r>
            <a:endParaRPr lang="pt-PT" dirty="0"/>
          </a:p>
          <a:p>
            <a:r>
              <a:rPr lang="pt-PT" dirty="0" err="1" smtClean="0"/>
              <a:t>cout</a:t>
            </a:r>
            <a:r>
              <a:rPr lang="pt-PT" dirty="0" smtClean="0"/>
              <a:t> &lt;&lt; *hacker &lt;&lt; </a:t>
            </a:r>
            <a:r>
              <a:rPr lang="pt-PT" dirty="0" err="1" smtClean="0"/>
              <a:t>endl</a:t>
            </a:r>
            <a:r>
              <a:rPr lang="pt-PT" dirty="0" smtClean="0"/>
              <a:t>;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Apontadores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131992576"/>
      </p:ext>
    </p:extLst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PT" b="1" dirty="0" smtClean="0"/>
              <a:t>Exercício</a:t>
            </a:r>
            <a:r>
              <a:rPr lang="pt-PT" dirty="0" smtClean="0"/>
              <a:t> </a:t>
            </a:r>
            <a:r>
              <a:rPr lang="pt-PT" b="1" dirty="0" smtClean="0"/>
              <a:t>#</a:t>
            </a:r>
            <a:r>
              <a:rPr lang="pt-PT" dirty="0" smtClean="0"/>
              <a:t>1 –criar uma função que permita receber dois valores e efetuar a troca desses valores (utilizando apontadores), exemplo:</a:t>
            </a:r>
          </a:p>
          <a:p>
            <a:r>
              <a:rPr lang="pt-PT" dirty="0" smtClean="0"/>
              <a:t>	</a:t>
            </a:r>
            <a:r>
              <a:rPr lang="pt-PT" b="1" dirty="0" smtClean="0"/>
              <a:t>Assinatura (algo do género):</a:t>
            </a:r>
            <a:endParaRPr lang="pt-PT" b="1" dirty="0"/>
          </a:p>
          <a:p>
            <a:r>
              <a:rPr lang="pt-PT" dirty="0" smtClean="0"/>
              <a:t>	</a:t>
            </a:r>
            <a:r>
              <a:rPr lang="pt-PT" dirty="0" err="1" smtClean="0"/>
              <a:t>void</a:t>
            </a:r>
            <a:r>
              <a:rPr lang="pt-PT" dirty="0" smtClean="0"/>
              <a:t> troca(…, …, … , …)</a:t>
            </a:r>
          </a:p>
          <a:p>
            <a:endParaRPr lang="pt-PT" b="1" dirty="0" smtClean="0"/>
          </a:p>
          <a:p>
            <a:r>
              <a:rPr lang="pt-PT" b="1" dirty="0" smtClean="0"/>
              <a:t> Exemplo de utilização:</a:t>
            </a:r>
          </a:p>
          <a:p>
            <a:r>
              <a:rPr lang="pt-PT" dirty="0"/>
              <a:t>	</a:t>
            </a:r>
            <a:r>
              <a:rPr lang="pt-PT" dirty="0" err="1" smtClean="0"/>
              <a:t>int</a:t>
            </a:r>
            <a:r>
              <a:rPr lang="pt-PT" dirty="0" smtClean="0"/>
              <a:t> x = 3, y = 4;</a:t>
            </a:r>
          </a:p>
          <a:p>
            <a:r>
              <a:rPr lang="pt-PT" dirty="0"/>
              <a:t>	</a:t>
            </a:r>
            <a:r>
              <a:rPr lang="pt-PT" dirty="0" smtClean="0"/>
              <a:t>troca(x, y);</a:t>
            </a:r>
          </a:p>
          <a:p>
            <a:r>
              <a:rPr lang="pt-PT" dirty="0"/>
              <a:t>	</a:t>
            </a:r>
            <a:r>
              <a:rPr lang="pt-PT" dirty="0" smtClean="0"/>
              <a:t>//x = 4; y= 3;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Apontadores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83272472"/>
      </p:ext>
    </p:extLst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10</a:t>
            </a:fld>
            <a:endParaRPr lang="de-D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PT" b="1" dirty="0" smtClean="0"/>
              <a:t>Exercício</a:t>
            </a:r>
            <a:r>
              <a:rPr lang="pt-PT" dirty="0" smtClean="0"/>
              <a:t> </a:t>
            </a:r>
            <a:r>
              <a:rPr lang="pt-PT" b="1" dirty="0" smtClean="0"/>
              <a:t>#</a:t>
            </a:r>
            <a:r>
              <a:rPr lang="pt-PT" dirty="0" smtClean="0"/>
              <a:t>2 –criar uma função que permita receber um </a:t>
            </a:r>
            <a:r>
              <a:rPr lang="pt-PT" dirty="0" err="1" smtClean="0"/>
              <a:t>array</a:t>
            </a:r>
            <a:r>
              <a:rPr lang="pt-PT" dirty="0" smtClean="0"/>
              <a:t> de valores e que devolva dois valores, a soma e a média:</a:t>
            </a:r>
          </a:p>
          <a:p>
            <a:r>
              <a:rPr lang="pt-PT" dirty="0" smtClean="0"/>
              <a:t>	</a:t>
            </a:r>
            <a:r>
              <a:rPr lang="pt-PT" b="1" dirty="0" smtClean="0"/>
              <a:t>Assinatura (algo do género):</a:t>
            </a:r>
            <a:endParaRPr lang="pt-PT" b="1" dirty="0"/>
          </a:p>
          <a:p>
            <a:r>
              <a:rPr lang="pt-PT" dirty="0" smtClean="0"/>
              <a:t>	</a:t>
            </a:r>
            <a:r>
              <a:rPr lang="pt-PT" dirty="0" err="1" smtClean="0"/>
              <a:t>void</a:t>
            </a:r>
            <a:r>
              <a:rPr lang="pt-PT" dirty="0" smtClean="0"/>
              <a:t> </a:t>
            </a:r>
            <a:r>
              <a:rPr lang="pt-PT" dirty="0" err="1" smtClean="0"/>
              <a:t>calcularValores</a:t>
            </a:r>
            <a:r>
              <a:rPr lang="pt-PT" dirty="0" smtClean="0"/>
              <a:t>(…, …, … , …)</a:t>
            </a:r>
          </a:p>
          <a:p>
            <a:r>
              <a:rPr lang="pt-PT" b="1" dirty="0" smtClean="0"/>
              <a:t> Exemplo de utilização:</a:t>
            </a:r>
          </a:p>
          <a:p>
            <a:r>
              <a:rPr lang="pt-PT" dirty="0"/>
              <a:t>	</a:t>
            </a:r>
            <a:r>
              <a:rPr lang="pt-PT" dirty="0" err="1" smtClean="0"/>
              <a:t>int</a:t>
            </a:r>
            <a:r>
              <a:rPr lang="pt-PT" dirty="0" smtClean="0"/>
              <a:t> x[10]; </a:t>
            </a:r>
            <a:r>
              <a:rPr lang="pt-PT" dirty="0" err="1" smtClean="0"/>
              <a:t>int</a:t>
            </a:r>
            <a:r>
              <a:rPr lang="pt-PT" dirty="0" smtClean="0"/>
              <a:t> s = 0, m = 0;</a:t>
            </a:r>
          </a:p>
          <a:p>
            <a:r>
              <a:rPr lang="pt-PT" dirty="0"/>
              <a:t>	</a:t>
            </a:r>
            <a:r>
              <a:rPr lang="pt-PT" dirty="0" smtClean="0"/>
              <a:t>// inicializamos o </a:t>
            </a:r>
            <a:r>
              <a:rPr lang="pt-PT" dirty="0" err="1" smtClean="0"/>
              <a:t>array</a:t>
            </a:r>
            <a:r>
              <a:rPr lang="pt-PT" dirty="0" smtClean="0"/>
              <a:t> com valores inteiros</a:t>
            </a:r>
          </a:p>
          <a:p>
            <a:r>
              <a:rPr lang="pt-PT" dirty="0"/>
              <a:t>	</a:t>
            </a:r>
            <a:r>
              <a:rPr lang="pt-PT" dirty="0" err="1" smtClean="0"/>
              <a:t>calcularValores</a:t>
            </a:r>
            <a:r>
              <a:rPr lang="pt-PT" dirty="0" smtClean="0"/>
              <a:t>(x, s, m);</a:t>
            </a:r>
          </a:p>
          <a:p>
            <a:r>
              <a:rPr lang="pt-PT" dirty="0"/>
              <a:t>	</a:t>
            </a:r>
            <a:r>
              <a:rPr lang="pt-PT" dirty="0" smtClean="0"/>
              <a:t>//s =&gt; soma; m=&gt; media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Apontadores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0970480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11</a:t>
            </a:fld>
            <a:endParaRPr lang="de-DE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Listas ligadas</a:t>
            </a:r>
            <a:endParaRPr lang="pt-PT" dirty="0"/>
          </a:p>
        </p:txBody>
      </p:sp>
      <p:pic>
        <p:nvPicPr>
          <p:cNvPr id="1026" name="Picture 2" descr="http://www.comscigate.com/cs/IntroSedgewick/40adt/43link/images/linked-list.png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053" y="911565"/>
            <a:ext cx="9014102" cy="5119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25427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12</a:t>
            </a:fld>
            <a:endParaRPr lang="de-DE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Listas ligadas</a:t>
            </a:r>
            <a:endParaRPr lang="pt-PT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17474" y="869088"/>
            <a:ext cx="7953375" cy="4932362"/>
          </a:xfrm>
        </p:spPr>
        <p:txBody>
          <a:bodyPr>
            <a:normAutofit fontScale="85000" lnSpcReduction="20000"/>
          </a:bodyPr>
          <a:lstStyle/>
          <a:p>
            <a:r>
              <a:rPr lang="pt-PT" dirty="0" err="1" smtClean="0"/>
              <a:t>struct</a:t>
            </a:r>
            <a:r>
              <a:rPr lang="pt-PT" dirty="0" smtClean="0"/>
              <a:t> node {</a:t>
            </a:r>
          </a:p>
          <a:p>
            <a:r>
              <a:rPr lang="pt-PT" dirty="0"/>
              <a:t>	</a:t>
            </a:r>
            <a:r>
              <a:rPr lang="pt-PT" dirty="0" err="1" smtClean="0"/>
              <a:t>int</a:t>
            </a:r>
            <a:r>
              <a:rPr lang="pt-PT" dirty="0" smtClean="0"/>
              <a:t> </a:t>
            </a:r>
            <a:r>
              <a:rPr lang="pt-PT" dirty="0" err="1" smtClean="0"/>
              <a:t>valorInt</a:t>
            </a:r>
            <a:r>
              <a:rPr lang="pt-PT" dirty="0" smtClean="0"/>
              <a:t>;</a:t>
            </a:r>
          </a:p>
          <a:p>
            <a:r>
              <a:rPr lang="pt-PT" dirty="0"/>
              <a:t>	</a:t>
            </a:r>
            <a:r>
              <a:rPr lang="pt-PT" dirty="0" smtClean="0"/>
              <a:t>node* </a:t>
            </a:r>
            <a:r>
              <a:rPr lang="pt-PT" dirty="0" err="1" smtClean="0"/>
              <a:t>next</a:t>
            </a:r>
            <a:r>
              <a:rPr lang="pt-PT" dirty="0" smtClean="0"/>
              <a:t>;</a:t>
            </a:r>
          </a:p>
          <a:p>
            <a:r>
              <a:rPr lang="pt-PT" dirty="0" smtClean="0"/>
              <a:t>}</a:t>
            </a:r>
          </a:p>
          <a:p>
            <a:r>
              <a:rPr lang="pt-PT" dirty="0" err="1" smtClean="0"/>
              <a:t>int</a:t>
            </a:r>
            <a:r>
              <a:rPr lang="pt-PT" dirty="0" smtClean="0"/>
              <a:t> </a:t>
            </a:r>
            <a:r>
              <a:rPr lang="pt-PT" dirty="0" err="1" smtClean="0"/>
              <a:t>main</a:t>
            </a:r>
            <a:r>
              <a:rPr lang="pt-PT" dirty="0" smtClean="0"/>
              <a:t>(</a:t>
            </a:r>
            <a:r>
              <a:rPr lang="pt-PT" dirty="0" err="1" smtClean="0"/>
              <a:t>int</a:t>
            </a:r>
            <a:r>
              <a:rPr lang="pt-PT" dirty="0" smtClean="0"/>
              <a:t> </a:t>
            </a:r>
            <a:r>
              <a:rPr lang="pt-PT" dirty="0" err="1" smtClean="0"/>
              <a:t>argc</a:t>
            </a:r>
            <a:r>
              <a:rPr lang="pt-PT" dirty="0" smtClean="0"/>
              <a:t>, </a:t>
            </a:r>
            <a:r>
              <a:rPr lang="pt-PT" dirty="0" err="1" smtClean="0"/>
              <a:t>char</a:t>
            </a:r>
            <a:r>
              <a:rPr lang="pt-PT" dirty="0" smtClean="0"/>
              <a:t>* </a:t>
            </a:r>
            <a:r>
              <a:rPr lang="pt-PT" dirty="0" err="1" smtClean="0"/>
              <a:t>argv</a:t>
            </a:r>
            <a:r>
              <a:rPr lang="pt-PT" dirty="0" smtClean="0"/>
              <a:t>[]){</a:t>
            </a:r>
          </a:p>
          <a:p>
            <a:r>
              <a:rPr lang="pt-PT" dirty="0" smtClean="0"/>
              <a:t>	node* </a:t>
            </a:r>
            <a:r>
              <a:rPr lang="pt-PT" dirty="0" err="1" smtClean="0"/>
              <a:t>root</a:t>
            </a:r>
            <a:r>
              <a:rPr lang="pt-PT" dirty="0" smtClean="0"/>
              <a:t>; // declarar cabeça da lista</a:t>
            </a:r>
          </a:p>
          <a:p>
            <a:r>
              <a:rPr lang="pt-PT" dirty="0" smtClean="0"/>
              <a:t>	// </a:t>
            </a:r>
            <a:r>
              <a:rPr lang="pt-PT" dirty="0"/>
              <a:t>declarar </a:t>
            </a:r>
            <a:r>
              <a:rPr lang="pt-PT" dirty="0" smtClean="0"/>
              <a:t>célula de uma forma não dinâmica</a:t>
            </a:r>
            <a:endParaRPr lang="pt-PT" dirty="0"/>
          </a:p>
          <a:p>
            <a:r>
              <a:rPr lang="pt-PT" dirty="0"/>
              <a:t>	node </a:t>
            </a:r>
            <a:r>
              <a:rPr lang="pt-PT" dirty="0" err="1"/>
              <a:t>primeiraCelula</a:t>
            </a:r>
            <a:r>
              <a:rPr lang="pt-PT" dirty="0"/>
              <a:t>;</a:t>
            </a:r>
          </a:p>
          <a:p>
            <a:r>
              <a:rPr lang="pt-PT" dirty="0"/>
              <a:t>	</a:t>
            </a:r>
            <a:r>
              <a:rPr lang="pt-PT" dirty="0" err="1" smtClean="0"/>
              <a:t>primeiraCelula.valorInt</a:t>
            </a:r>
            <a:r>
              <a:rPr lang="pt-PT" dirty="0" smtClean="0"/>
              <a:t> </a:t>
            </a:r>
            <a:r>
              <a:rPr lang="pt-PT" dirty="0"/>
              <a:t>= 75;</a:t>
            </a:r>
          </a:p>
          <a:p>
            <a:r>
              <a:rPr lang="pt-PT" dirty="0"/>
              <a:t>	</a:t>
            </a:r>
            <a:r>
              <a:rPr lang="pt-PT" dirty="0" err="1"/>
              <a:t>primeiraCelula.next</a:t>
            </a:r>
            <a:r>
              <a:rPr lang="pt-PT" dirty="0"/>
              <a:t> = NULL;	</a:t>
            </a:r>
          </a:p>
          <a:p>
            <a:r>
              <a:rPr lang="pt-PT" dirty="0"/>
              <a:t>	</a:t>
            </a:r>
            <a:r>
              <a:rPr lang="pt-PT" dirty="0" err="1"/>
              <a:t>root</a:t>
            </a:r>
            <a:r>
              <a:rPr lang="pt-PT" dirty="0"/>
              <a:t> = &amp;</a:t>
            </a:r>
            <a:r>
              <a:rPr lang="pt-PT" dirty="0" err="1"/>
              <a:t>primeiraCelula</a:t>
            </a:r>
            <a:r>
              <a:rPr lang="pt-PT" dirty="0"/>
              <a:t>;</a:t>
            </a:r>
            <a:endParaRPr lang="pt-PT" dirty="0" smtClean="0"/>
          </a:p>
          <a:p>
            <a:r>
              <a:rPr lang="pt-PT" dirty="0" smtClean="0"/>
              <a:t>}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76818070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13</a:t>
            </a:fld>
            <a:endParaRPr lang="de-DE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Listas ligadas</a:t>
            </a:r>
            <a:endParaRPr lang="pt-PT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17474" y="869088"/>
            <a:ext cx="7953375" cy="4932362"/>
          </a:xfrm>
        </p:spPr>
        <p:txBody>
          <a:bodyPr>
            <a:normAutofit fontScale="85000" lnSpcReduction="20000"/>
          </a:bodyPr>
          <a:lstStyle/>
          <a:p>
            <a:r>
              <a:rPr lang="pt-PT" dirty="0" err="1" smtClean="0"/>
              <a:t>struct</a:t>
            </a:r>
            <a:r>
              <a:rPr lang="pt-PT" dirty="0" smtClean="0"/>
              <a:t> node {</a:t>
            </a:r>
          </a:p>
          <a:p>
            <a:r>
              <a:rPr lang="pt-PT" dirty="0"/>
              <a:t>	</a:t>
            </a:r>
            <a:r>
              <a:rPr lang="pt-PT" dirty="0" err="1" smtClean="0"/>
              <a:t>int</a:t>
            </a:r>
            <a:r>
              <a:rPr lang="pt-PT" dirty="0" smtClean="0"/>
              <a:t> </a:t>
            </a:r>
            <a:r>
              <a:rPr lang="pt-PT" dirty="0" err="1" smtClean="0"/>
              <a:t>valorInt</a:t>
            </a:r>
            <a:r>
              <a:rPr lang="pt-PT" dirty="0" smtClean="0"/>
              <a:t>;</a:t>
            </a:r>
          </a:p>
          <a:p>
            <a:r>
              <a:rPr lang="pt-PT" dirty="0"/>
              <a:t>	</a:t>
            </a:r>
            <a:r>
              <a:rPr lang="pt-PT" dirty="0" smtClean="0"/>
              <a:t>node* </a:t>
            </a:r>
            <a:r>
              <a:rPr lang="pt-PT" dirty="0" err="1" smtClean="0"/>
              <a:t>next</a:t>
            </a:r>
            <a:r>
              <a:rPr lang="pt-PT" dirty="0" smtClean="0"/>
              <a:t>;</a:t>
            </a:r>
          </a:p>
          <a:p>
            <a:r>
              <a:rPr lang="pt-PT" dirty="0" smtClean="0"/>
              <a:t>}</a:t>
            </a:r>
          </a:p>
          <a:p>
            <a:r>
              <a:rPr lang="pt-PT" dirty="0" err="1" smtClean="0"/>
              <a:t>int</a:t>
            </a:r>
            <a:r>
              <a:rPr lang="pt-PT" dirty="0" smtClean="0"/>
              <a:t> </a:t>
            </a:r>
            <a:r>
              <a:rPr lang="pt-PT" dirty="0" err="1" smtClean="0"/>
              <a:t>main</a:t>
            </a:r>
            <a:r>
              <a:rPr lang="pt-PT" dirty="0" smtClean="0"/>
              <a:t>(</a:t>
            </a:r>
            <a:r>
              <a:rPr lang="pt-PT" dirty="0" err="1" smtClean="0"/>
              <a:t>int</a:t>
            </a:r>
            <a:r>
              <a:rPr lang="pt-PT" dirty="0" smtClean="0"/>
              <a:t> </a:t>
            </a:r>
            <a:r>
              <a:rPr lang="pt-PT" dirty="0" err="1" smtClean="0"/>
              <a:t>argc</a:t>
            </a:r>
            <a:r>
              <a:rPr lang="pt-PT" dirty="0" smtClean="0"/>
              <a:t>, </a:t>
            </a:r>
            <a:r>
              <a:rPr lang="pt-PT" dirty="0" err="1" smtClean="0"/>
              <a:t>char</a:t>
            </a:r>
            <a:r>
              <a:rPr lang="pt-PT" dirty="0" smtClean="0"/>
              <a:t>* </a:t>
            </a:r>
            <a:r>
              <a:rPr lang="pt-PT" dirty="0" err="1" smtClean="0"/>
              <a:t>argv</a:t>
            </a:r>
            <a:r>
              <a:rPr lang="pt-PT" dirty="0" smtClean="0"/>
              <a:t>[]){</a:t>
            </a:r>
          </a:p>
          <a:p>
            <a:r>
              <a:rPr lang="pt-PT" dirty="0" smtClean="0"/>
              <a:t>	node* </a:t>
            </a:r>
            <a:r>
              <a:rPr lang="pt-PT" dirty="0" err="1" smtClean="0"/>
              <a:t>root</a:t>
            </a:r>
            <a:r>
              <a:rPr lang="pt-PT" dirty="0" smtClean="0"/>
              <a:t>; // declarar cabeça da lista</a:t>
            </a:r>
          </a:p>
          <a:p>
            <a:r>
              <a:rPr lang="pt-PT" dirty="0" smtClean="0"/>
              <a:t>	// </a:t>
            </a:r>
            <a:r>
              <a:rPr lang="pt-PT" dirty="0"/>
              <a:t>declarar </a:t>
            </a:r>
            <a:r>
              <a:rPr lang="pt-PT" dirty="0" smtClean="0"/>
              <a:t>célula de uma forma não dinâmica</a:t>
            </a:r>
            <a:endParaRPr lang="pt-PT" dirty="0"/>
          </a:p>
          <a:p>
            <a:r>
              <a:rPr lang="pt-PT" dirty="0"/>
              <a:t>	node </a:t>
            </a:r>
            <a:r>
              <a:rPr lang="pt-PT" dirty="0" err="1"/>
              <a:t>primeiraCelula</a:t>
            </a:r>
            <a:r>
              <a:rPr lang="pt-PT" dirty="0"/>
              <a:t>;</a:t>
            </a:r>
          </a:p>
          <a:p>
            <a:r>
              <a:rPr lang="pt-PT" dirty="0"/>
              <a:t>	</a:t>
            </a:r>
            <a:r>
              <a:rPr lang="pt-PT" dirty="0" err="1" smtClean="0"/>
              <a:t>primeiraCelula.valorInt</a:t>
            </a:r>
            <a:r>
              <a:rPr lang="pt-PT" dirty="0" smtClean="0"/>
              <a:t> </a:t>
            </a:r>
            <a:r>
              <a:rPr lang="pt-PT" dirty="0"/>
              <a:t>= 75;</a:t>
            </a:r>
          </a:p>
          <a:p>
            <a:r>
              <a:rPr lang="pt-PT" dirty="0"/>
              <a:t>	</a:t>
            </a:r>
            <a:r>
              <a:rPr lang="pt-PT" dirty="0" err="1"/>
              <a:t>primeiraCelula.next</a:t>
            </a:r>
            <a:r>
              <a:rPr lang="pt-PT" dirty="0"/>
              <a:t> = NULL;	</a:t>
            </a:r>
          </a:p>
          <a:p>
            <a:r>
              <a:rPr lang="pt-PT" dirty="0"/>
              <a:t>	</a:t>
            </a:r>
            <a:r>
              <a:rPr lang="pt-PT" dirty="0" err="1"/>
              <a:t>root</a:t>
            </a:r>
            <a:r>
              <a:rPr lang="pt-PT" dirty="0"/>
              <a:t> = &amp;</a:t>
            </a:r>
            <a:r>
              <a:rPr lang="pt-PT" dirty="0" err="1"/>
              <a:t>primeiraCelula</a:t>
            </a:r>
            <a:r>
              <a:rPr lang="pt-PT" dirty="0"/>
              <a:t>;</a:t>
            </a:r>
            <a:endParaRPr lang="pt-PT" dirty="0" smtClean="0"/>
          </a:p>
          <a:p>
            <a:r>
              <a:rPr lang="pt-PT" dirty="0" smtClean="0"/>
              <a:t>}</a:t>
            </a:r>
            <a:endParaRPr lang="pt-PT" dirty="0"/>
          </a:p>
        </p:txBody>
      </p:sp>
      <p:sp>
        <p:nvSpPr>
          <p:cNvPr id="6" name="Rectangle 5"/>
          <p:cNvSpPr/>
          <p:nvPr/>
        </p:nvSpPr>
        <p:spPr>
          <a:xfrm>
            <a:off x="6351815" y="1924789"/>
            <a:ext cx="4953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PT" dirty="0" smtClean="0"/>
              <a:t>node</a:t>
            </a:r>
            <a:r>
              <a:rPr lang="pt-PT" dirty="0"/>
              <a:t>* </a:t>
            </a:r>
            <a:r>
              <a:rPr lang="pt-PT" dirty="0" err="1"/>
              <a:t>iter</a:t>
            </a:r>
            <a:r>
              <a:rPr lang="pt-PT" dirty="0"/>
              <a:t> = </a:t>
            </a:r>
            <a:r>
              <a:rPr lang="pt-PT" dirty="0" err="1"/>
              <a:t>root</a:t>
            </a:r>
            <a:r>
              <a:rPr lang="pt-PT" dirty="0"/>
              <a:t>;</a:t>
            </a:r>
          </a:p>
          <a:p>
            <a:r>
              <a:rPr lang="pt-PT" dirty="0" err="1" smtClean="0"/>
              <a:t>int</a:t>
            </a:r>
            <a:r>
              <a:rPr lang="pt-PT" dirty="0" smtClean="0"/>
              <a:t> </a:t>
            </a:r>
            <a:r>
              <a:rPr lang="pt-PT" dirty="0" err="1"/>
              <a:t>posicao</a:t>
            </a:r>
            <a:r>
              <a:rPr lang="pt-PT" dirty="0"/>
              <a:t> = 0;</a:t>
            </a:r>
          </a:p>
          <a:p>
            <a:r>
              <a:rPr lang="pt-PT" dirty="0" smtClean="0"/>
              <a:t>do </a:t>
            </a:r>
            <a:r>
              <a:rPr lang="pt-PT" dirty="0"/>
              <a:t>{</a:t>
            </a:r>
          </a:p>
          <a:p>
            <a:r>
              <a:rPr lang="pt-PT" dirty="0" smtClean="0"/>
              <a:t>	</a:t>
            </a:r>
            <a:r>
              <a:rPr lang="pt-PT" dirty="0" err="1" smtClean="0"/>
              <a:t>cout</a:t>
            </a:r>
            <a:r>
              <a:rPr lang="pt-PT" dirty="0" smtClean="0"/>
              <a:t> </a:t>
            </a:r>
            <a:r>
              <a:rPr lang="pt-PT" dirty="0"/>
              <a:t>&lt;&lt; "</a:t>
            </a:r>
            <a:r>
              <a:rPr lang="pt-PT" dirty="0" err="1"/>
              <a:t>Posicao</a:t>
            </a:r>
            <a:r>
              <a:rPr lang="pt-PT" dirty="0"/>
              <a:t> " &lt;&lt; </a:t>
            </a:r>
            <a:endParaRPr lang="pt-PT" dirty="0" smtClean="0"/>
          </a:p>
          <a:p>
            <a:r>
              <a:rPr lang="pt-PT" dirty="0"/>
              <a:t> </a:t>
            </a:r>
            <a:r>
              <a:rPr lang="pt-PT" dirty="0" smtClean="0"/>
              <a:t>                           </a:t>
            </a:r>
            <a:r>
              <a:rPr lang="pt-PT" dirty="0" err="1" smtClean="0"/>
              <a:t>posicao</a:t>
            </a:r>
            <a:r>
              <a:rPr lang="pt-PT" dirty="0"/>
              <a:t>++ &lt;&lt; </a:t>
            </a:r>
            <a:endParaRPr lang="pt-PT" dirty="0" smtClean="0"/>
          </a:p>
          <a:p>
            <a:r>
              <a:rPr lang="pt-PT" dirty="0"/>
              <a:t> </a:t>
            </a:r>
            <a:r>
              <a:rPr lang="pt-PT" dirty="0" smtClean="0"/>
              <a:t>                           " </a:t>
            </a:r>
            <a:r>
              <a:rPr lang="pt-PT" dirty="0"/>
              <a:t>=&gt; " &lt;&lt; </a:t>
            </a:r>
            <a:endParaRPr lang="pt-PT" dirty="0" smtClean="0"/>
          </a:p>
          <a:p>
            <a:r>
              <a:rPr lang="pt-PT" dirty="0"/>
              <a:t> </a:t>
            </a:r>
            <a:r>
              <a:rPr lang="pt-PT" dirty="0" smtClean="0"/>
              <a:t>                           </a:t>
            </a:r>
            <a:r>
              <a:rPr lang="pt-PT" dirty="0" err="1" smtClean="0"/>
              <a:t>iter</a:t>
            </a:r>
            <a:r>
              <a:rPr lang="pt-PT" dirty="0" smtClean="0"/>
              <a:t>-</a:t>
            </a:r>
            <a:r>
              <a:rPr lang="pt-PT" dirty="0"/>
              <a:t>&gt;valor &lt;&lt; </a:t>
            </a:r>
            <a:endParaRPr lang="pt-PT" dirty="0" smtClean="0"/>
          </a:p>
          <a:p>
            <a:r>
              <a:rPr lang="pt-PT" dirty="0"/>
              <a:t>	</a:t>
            </a:r>
            <a:r>
              <a:rPr lang="pt-PT" dirty="0" smtClean="0"/>
              <a:t>	</a:t>
            </a:r>
            <a:r>
              <a:rPr lang="pt-PT" dirty="0" err="1" smtClean="0"/>
              <a:t>endl</a:t>
            </a:r>
            <a:r>
              <a:rPr lang="pt-PT" dirty="0" smtClean="0"/>
              <a:t>;</a:t>
            </a:r>
          </a:p>
          <a:p>
            <a:endParaRPr lang="pt-PT" dirty="0"/>
          </a:p>
          <a:p>
            <a:r>
              <a:rPr lang="pt-PT" dirty="0" smtClean="0"/>
              <a:t>	</a:t>
            </a:r>
            <a:r>
              <a:rPr lang="pt-PT" dirty="0" err="1" smtClean="0"/>
              <a:t>iter</a:t>
            </a:r>
            <a:r>
              <a:rPr lang="pt-PT" dirty="0" smtClean="0"/>
              <a:t> </a:t>
            </a:r>
            <a:r>
              <a:rPr lang="pt-PT" dirty="0"/>
              <a:t>= </a:t>
            </a:r>
            <a:r>
              <a:rPr lang="pt-PT" dirty="0" err="1"/>
              <a:t>iter</a:t>
            </a:r>
            <a:r>
              <a:rPr lang="pt-PT" dirty="0"/>
              <a:t>-&gt;</a:t>
            </a:r>
            <a:r>
              <a:rPr lang="pt-PT" dirty="0" err="1"/>
              <a:t>next</a:t>
            </a:r>
            <a:r>
              <a:rPr lang="pt-PT" dirty="0"/>
              <a:t>;</a:t>
            </a:r>
          </a:p>
          <a:p>
            <a:r>
              <a:rPr lang="pt-PT" dirty="0" smtClean="0"/>
              <a:t>} </a:t>
            </a:r>
            <a:r>
              <a:rPr lang="pt-PT" dirty="0" err="1"/>
              <a:t>while</a:t>
            </a:r>
            <a:r>
              <a:rPr lang="pt-PT" dirty="0"/>
              <a:t> (</a:t>
            </a:r>
            <a:r>
              <a:rPr lang="pt-PT" dirty="0" err="1"/>
              <a:t>iter</a:t>
            </a:r>
            <a:r>
              <a:rPr lang="pt-PT" dirty="0"/>
              <a:t> != NULL);</a:t>
            </a:r>
          </a:p>
        </p:txBody>
      </p:sp>
    </p:spTree>
    <p:extLst>
      <p:ext uri="{BB962C8B-B14F-4D97-AF65-F5344CB8AC3E}">
        <p14:creationId xmlns:p14="http://schemas.microsoft.com/office/powerpoint/2010/main" val="130695216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14</a:t>
            </a:fld>
            <a:endParaRPr lang="de-DE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Listas ligadas</a:t>
            </a:r>
            <a:endParaRPr lang="pt-PT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PT" b="1" dirty="0" smtClean="0"/>
              <a:t>Exercício</a:t>
            </a:r>
            <a:r>
              <a:rPr lang="pt-PT" dirty="0" smtClean="0"/>
              <a:t> </a:t>
            </a:r>
            <a:r>
              <a:rPr lang="pt-PT" b="1" dirty="0" smtClean="0"/>
              <a:t>#</a:t>
            </a:r>
            <a:r>
              <a:rPr lang="pt-PT" dirty="0" smtClean="0"/>
              <a:t>3 – implemente uma função que permita inserir um elemento no final de uma lista ligada.</a:t>
            </a:r>
          </a:p>
          <a:p>
            <a:r>
              <a:rPr lang="pt-PT" b="1" dirty="0" smtClean="0"/>
              <a:t>Antes:</a:t>
            </a:r>
            <a:endParaRPr lang="pt-PT" b="1" dirty="0"/>
          </a:p>
          <a:p>
            <a:r>
              <a:rPr lang="pt-PT" dirty="0" smtClean="0"/>
              <a:t>	Raiz -&gt;Nó 1-&gt;Nó 2-&gt;NULL</a:t>
            </a:r>
          </a:p>
          <a:p>
            <a:endParaRPr lang="pt-PT" dirty="0" smtClean="0"/>
          </a:p>
          <a:p>
            <a:r>
              <a:rPr lang="pt-PT" b="1" dirty="0" smtClean="0"/>
              <a:t>Depois:</a:t>
            </a:r>
          </a:p>
          <a:p>
            <a:r>
              <a:rPr lang="pt-PT" dirty="0" smtClean="0"/>
              <a:t>	Raiz </a:t>
            </a:r>
            <a:r>
              <a:rPr lang="pt-PT" dirty="0"/>
              <a:t>-&gt;Nó 1-&gt;Nó 2-</a:t>
            </a:r>
            <a:r>
              <a:rPr lang="pt-PT" dirty="0" smtClean="0"/>
              <a:t>&gt;Novo Nó-&gt;NULL</a:t>
            </a:r>
            <a:endParaRPr lang="pt-PT" dirty="0"/>
          </a:p>
          <a:p>
            <a:endParaRPr lang="pt-PT" dirty="0" smtClean="0"/>
          </a:p>
          <a:p>
            <a:r>
              <a:rPr lang="pt-PT" b="1" dirty="0"/>
              <a:t>Assinatura da função</a:t>
            </a:r>
            <a:r>
              <a:rPr lang="pt-PT" dirty="0"/>
              <a:t>: </a:t>
            </a:r>
          </a:p>
          <a:p>
            <a:r>
              <a:rPr lang="pt-PT" dirty="0"/>
              <a:t>	…</a:t>
            </a:r>
            <a:r>
              <a:rPr lang="pt-PT" dirty="0" err="1" smtClean="0"/>
              <a:t>insereFim</a:t>
            </a:r>
            <a:r>
              <a:rPr lang="pt-PT" dirty="0" smtClean="0"/>
              <a:t>( </a:t>
            </a:r>
            <a:r>
              <a:rPr lang="pt-PT" dirty="0"/>
              <a:t>… raiz, … dados)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97758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15</a:t>
            </a:fld>
            <a:endParaRPr lang="de-DE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Listas ligadas</a:t>
            </a:r>
            <a:endParaRPr lang="pt-PT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PT" b="1" dirty="0" smtClean="0"/>
              <a:t>Exercício</a:t>
            </a:r>
            <a:r>
              <a:rPr lang="pt-PT" dirty="0" smtClean="0"/>
              <a:t> </a:t>
            </a:r>
            <a:r>
              <a:rPr lang="pt-PT" b="1" dirty="0" smtClean="0"/>
              <a:t>#</a:t>
            </a:r>
            <a:r>
              <a:rPr lang="pt-PT" dirty="0" smtClean="0"/>
              <a:t>4 – implemente uma função que permita inserir um elemento no início de uma lista ligada.</a:t>
            </a:r>
          </a:p>
          <a:p>
            <a:r>
              <a:rPr lang="pt-PT" b="1" dirty="0" smtClean="0"/>
              <a:t>Antes:</a:t>
            </a:r>
            <a:endParaRPr lang="pt-PT" b="1" dirty="0"/>
          </a:p>
          <a:p>
            <a:r>
              <a:rPr lang="pt-PT" dirty="0" smtClean="0"/>
              <a:t>	Raiz -&gt;Nó 1-&gt;Nó 2-&gt;NULL</a:t>
            </a:r>
          </a:p>
          <a:p>
            <a:endParaRPr lang="pt-PT" dirty="0" smtClean="0"/>
          </a:p>
          <a:p>
            <a:r>
              <a:rPr lang="pt-PT" b="1" dirty="0" smtClean="0"/>
              <a:t>Depois:</a:t>
            </a:r>
          </a:p>
          <a:p>
            <a:r>
              <a:rPr lang="pt-PT" dirty="0" smtClean="0"/>
              <a:t>	Raiz -&gt;Novo Nó-&gt;Nó </a:t>
            </a:r>
            <a:r>
              <a:rPr lang="pt-PT" dirty="0"/>
              <a:t>1-&gt;Nó 2-</a:t>
            </a:r>
            <a:r>
              <a:rPr lang="pt-PT" dirty="0" smtClean="0"/>
              <a:t>&gt;NULL</a:t>
            </a:r>
            <a:endParaRPr lang="pt-PT" dirty="0"/>
          </a:p>
          <a:p>
            <a:endParaRPr lang="pt-PT" dirty="0" smtClean="0"/>
          </a:p>
          <a:p>
            <a:r>
              <a:rPr lang="pt-PT" b="1" dirty="0" smtClean="0"/>
              <a:t>Assinatura da função</a:t>
            </a:r>
            <a:r>
              <a:rPr lang="pt-PT" dirty="0" smtClean="0"/>
              <a:t>: </a:t>
            </a:r>
          </a:p>
          <a:p>
            <a:r>
              <a:rPr lang="pt-PT" dirty="0"/>
              <a:t>	</a:t>
            </a:r>
            <a:r>
              <a:rPr lang="pt-PT" dirty="0" smtClean="0"/>
              <a:t>…</a:t>
            </a:r>
            <a:r>
              <a:rPr lang="pt-PT" dirty="0" err="1" smtClean="0"/>
              <a:t>insereInicio</a:t>
            </a:r>
            <a:r>
              <a:rPr lang="pt-PT" dirty="0" smtClean="0"/>
              <a:t>( … raiz, … dados)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6229981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16</a:t>
            </a:fld>
            <a:endParaRPr lang="de-DE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Listas ligadas</a:t>
            </a:r>
            <a:endParaRPr lang="pt-PT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PT" b="1" dirty="0" smtClean="0"/>
              <a:t>Exercício</a:t>
            </a:r>
            <a:r>
              <a:rPr lang="pt-PT" dirty="0" smtClean="0"/>
              <a:t> </a:t>
            </a:r>
            <a:r>
              <a:rPr lang="pt-PT" b="1" dirty="0" smtClean="0"/>
              <a:t>#</a:t>
            </a:r>
            <a:r>
              <a:rPr lang="pt-PT" dirty="0" smtClean="0"/>
              <a:t>5 </a:t>
            </a:r>
            <a:r>
              <a:rPr lang="pt-PT" dirty="0" smtClean="0"/>
              <a:t>– implemente uma função que permita inserir um elemento </a:t>
            </a:r>
            <a:r>
              <a:rPr lang="pt-PT" dirty="0" smtClean="0"/>
              <a:t>após um outro elemento de uma lista ligada. Caso não exista o valor passado, deve ser colocado no final.</a:t>
            </a:r>
            <a:endParaRPr lang="pt-PT" dirty="0" smtClean="0"/>
          </a:p>
          <a:p>
            <a:r>
              <a:rPr lang="pt-PT" b="1" dirty="0" smtClean="0"/>
              <a:t>Antes:</a:t>
            </a:r>
            <a:endParaRPr lang="pt-PT" b="1" dirty="0"/>
          </a:p>
          <a:p>
            <a:r>
              <a:rPr lang="pt-PT" dirty="0" smtClean="0"/>
              <a:t>	Raiz -&gt;Nó 1-&gt;Nó 2-&gt;NULL</a:t>
            </a:r>
          </a:p>
          <a:p>
            <a:r>
              <a:rPr lang="pt-PT" b="1" dirty="0" smtClean="0"/>
              <a:t>Depois</a:t>
            </a:r>
            <a:r>
              <a:rPr lang="pt-PT" b="1" dirty="0" smtClean="0"/>
              <a:t>:</a:t>
            </a:r>
          </a:p>
          <a:p>
            <a:r>
              <a:rPr lang="pt-PT" dirty="0" smtClean="0"/>
              <a:t>	Raiz </a:t>
            </a:r>
            <a:r>
              <a:rPr lang="pt-PT" dirty="0" smtClean="0"/>
              <a:t>-&gt;Nó </a:t>
            </a:r>
            <a:r>
              <a:rPr lang="pt-PT" dirty="0"/>
              <a:t>1-</a:t>
            </a:r>
            <a:r>
              <a:rPr lang="pt-PT" dirty="0"/>
              <a:t>&gt;Novo </a:t>
            </a:r>
            <a:r>
              <a:rPr lang="pt-PT" dirty="0" smtClean="0"/>
              <a:t>Nó-&gt;Nó </a:t>
            </a:r>
            <a:r>
              <a:rPr lang="pt-PT" dirty="0"/>
              <a:t>2-</a:t>
            </a:r>
            <a:r>
              <a:rPr lang="pt-PT" dirty="0" smtClean="0"/>
              <a:t>&gt;NULL</a:t>
            </a:r>
            <a:endParaRPr lang="pt-PT" dirty="0"/>
          </a:p>
          <a:p>
            <a:r>
              <a:rPr lang="pt-PT" b="1" dirty="0" smtClean="0"/>
              <a:t>Assinatura </a:t>
            </a:r>
            <a:r>
              <a:rPr lang="pt-PT" b="1" dirty="0" smtClean="0"/>
              <a:t>da função</a:t>
            </a:r>
            <a:r>
              <a:rPr lang="pt-PT" dirty="0" smtClean="0"/>
              <a:t>: </a:t>
            </a:r>
          </a:p>
          <a:p>
            <a:r>
              <a:rPr lang="pt-PT" sz="2000" dirty="0"/>
              <a:t>	</a:t>
            </a:r>
            <a:r>
              <a:rPr lang="pt-PT" sz="2000" dirty="0" smtClean="0"/>
              <a:t>…</a:t>
            </a:r>
            <a:r>
              <a:rPr lang="pt-PT" sz="2000" dirty="0" err="1" smtClean="0"/>
              <a:t>insereDepoisDe</a:t>
            </a:r>
            <a:r>
              <a:rPr lang="pt-PT" sz="2000" dirty="0" smtClean="0"/>
              <a:t>( </a:t>
            </a:r>
            <a:r>
              <a:rPr lang="pt-PT" sz="2000" dirty="0" smtClean="0"/>
              <a:t>… raiz, … </a:t>
            </a:r>
            <a:r>
              <a:rPr lang="pt-PT" sz="2000" dirty="0" err="1" smtClean="0"/>
              <a:t>novoValor</a:t>
            </a:r>
            <a:r>
              <a:rPr lang="pt-PT" sz="2000" dirty="0" smtClean="0"/>
              <a:t>, </a:t>
            </a:r>
            <a:r>
              <a:rPr lang="pt-PT" sz="2000" dirty="0" err="1" smtClean="0"/>
              <a:t>valorJaPresente</a:t>
            </a:r>
            <a:r>
              <a:rPr lang="pt-PT" sz="2000" dirty="0" smtClean="0"/>
              <a:t>)</a:t>
            </a:r>
            <a:endParaRPr lang="pt-PT" sz="2000" dirty="0"/>
          </a:p>
        </p:txBody>
      </p:sp>
    </p:spTree>
    <p:extLst>
      <p:ext uri="{BB962C8B-B14F-4D97-AF65-F5344CB8AC3E}">
        <p14:creationId xmlns:p14="http://schemas.microsoft.com/office/powerpoint/2010/main" val="313959599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17</a:t>
            </a:fld>
            <a:endParaRPr lang="de-DE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Listas ligadas</a:t>
            </a:r>
            <a:endParaRPr lang="pt-PT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PT" b="1" dirty="0" smtClean="0"/>
              <a:t>Exercício</a:t>
            </a:r>
            <a:r>
              <a:rPr lang="pt-PT" dirty="0" smtClean="0"/>
              <a:t> </a:t>
            </a:r>
            <a:r>
              <a:rPr lang="pt-PT" b="1" dirty="0" smtClean="0"/>
              <a:t>#</a:t>
            </a:r>
            <a:r>
              <a:rPr lang="pt-PT" dirty="0" smtClean="0"/>
              <a:t>6 </a:t>
            </a:r>
            <a:r>
              <a:rPr lang="pt-PT" dirty="0" smtClean="0"/>
              <a:t>– implemente </a:t>
            </a:r>
            <a:r>
              <a:rPr lang="pt-PT" dirty="0" smtClean="0"/>
              <a:t>duas funções </a:t>
            </a:r>
            <a:r>
              <a:rPr lang="pt-PT" dirty="0" smtClean="0"/>
              <a:t>que </a:t>
            </a:r>
            <a:r>
              <a:rPr lang="pt-PT" dirty="0" smtClean="0"/>
              <a:t>permitam ordenar uma lista ligada.</a:t>
            </a:r>
            <a:endParaRPr lang="pt-PT" dirty="0" smtClean="0"/>
          </a:p>
          <a:p>
            <a:endParaRPr lang="pt-PT" dirty="0"/>
          </a:p>
          <a:p>
            <a:r>
              <a:rPr lang="pt-PT" b="1" dirty="0" smtClean="0"/>
              <a:t>Assinatura das funções</a:t>
            </a:r>
            <a:r>
              <a:rPr lang="pt-PT" dirty="0" smtClean="0"/>
              <a:t>: </a:t>
            </a:r>
            <a:endParaRPr lang="pt-PT" dirty="0" smtClean="0"/>
          </a:p>
          <a:p>
            <a:r>
              <a:rPr lang="pt-PT" sz="2000" dirty="0"/>
              <a:t>	</a:t>
            </a:r>
            <a:r>
              <a:rPr lang="pt-PT" sz="2000" dirty="0" err="1" smtClean="0"/>
              <a:t>void</a:t>
            </a:r>
            <a:r>
              <a:rPr lang="pt-PT" sz="2000" dirty="0" smtClean="0"/>
              <a:t> </a:t>
            </a:r>
            <a:r>
              <a:rPr lang="pt-PT" sz="2000" dirty="0" err="1" smtClean="0"/>
              <a:t>ordenarListaAsc</a:t>
            </a:r>
            <a:r>
              <a:rPr lang="pt-PT" sz="2000" dirty="0" smtClean="0"/>
              <a:t>( </a:t>
            </a:r>
            <a:r>
              <a:rPr lang="pt-PT" sz="2000" dirty="0" smtClean="0"/>
              <a:t>… </a:t>
            </a:r>
            <a:r>
              <a:rPr lang="pt-PT" sz="2000" dirty="0" smtClean="0"/>
              <a:t>raiz)</a:t>
            </a:r>
          </a:p>
          <a:p>
            <a:r>
              <a:rPr lang="pt-PT" sz="2000" dirty="0" smtClean="0"/>
              <a:t>	</a:t>
            </a:r>
            <a:r>
              <a:rPr lang="pt-PT" sz="2000" dirty="0" err="1" smtClean="0"/>
              <a:t>void</a:t>
            </a:r>
            <a:r>
              <a:rPr lang="pt-PT" sz="2000" dirty="0" smtClean="0"/>
              <a:t> </a:t>
            </a:r>
            <a:r>
              <a:rPr lang="pt-PT" sz="2000" dirty="0" err="1" smtClean="0"/>
              <a:t>ordenarListaDesc</a:t>
            </a:r>
            <a:r>
              <a:rPr lang="pt-PT" sz="2000" dirty="0" smtClean="0"/>
              <a:t>( </a:t>
            </a:r>
            <a:r>
              <a:rPr lang="pt-PT" sz="2000" dirty="0"/>
              <a:t>… raiz)</a:t>
            </a:r>
          </a:p>
          <a:p>
            <a:endParaRPr lang="pt-PT" sz="2000" dirty="0"/>
          </a:p>
        </p:txBody>
      </p:sp>
    </p:spTree>
    <p:extLst>
      <p:ext uri="{BB962C8B-B14F-4D97-AF65-F5344CB8AC3E}">
        <p14:creationId xmlns:p14="http://schemas.microsoft.com/office/powerpoint/2010/main" val="121902002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 smtClean="0"/>
              <a:t>www.atec.pt</a:t>
            </a:r>
            <a:endParaRPr lang="de-D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A5BB97A9-7D72-4F8F-8BC5-4E547C3F4DC5}" type="slidenum">
              <a:rPr lang="de-DE" smtClean="0"/>
              <a:pPr/>
              <a:t>18</a:t>
            </a:fld>
            <a:endParaRPr lang="de-DE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Listas ligadas</a:t>
            </a:r>
            <a:endParaRPr lang="pt-PT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PT" b="1" dirty="0" smtClean="0"/>
              <a:t>Exercício</a:t>
            </a:r>
            <a:r>
              <a:rPr lang="pt-PT" dirty="0" smtClean="0"/>
              <a:t> </a:t>
            </a:r>
            <a:r>
              <a:rPr lang="pt-PT" b="1" dirty="0" smtClean="0"/>
              <a:t>#</a:t>
            </a:r>
            <a:r>
              <a:rPr lang="pt-PT" dirty="0"/>
              <a:t>7</a:t>
            </a:r>
            <a:r>
              <a:rPr lang="pt-PT" dirty="0" smtClean="0"/>
              <a:t> </a:t>
            </a:r>
            <a:r>
              <a:rPr lang="pt-PT" dirty="0" smtClean="0"/>
              <a:t>– implemente </a:t>
            </a:r>
            <a:r>
              <a:rPr lang="pt-PT" dirty="0" smtClean="0"/>
              <a:t>uma lista simplesmente ligada, circular. </a:t>
            </a:r>
          </a:p>
          <a:p>
            <a:r>
              <a:rPr lang="pt-PT" b="1" dirty="0" smtClean="0"/>
              <a:t>#7.1</a:t>
            </a:r>
            <a:r>
              <a:rPr lang="pt-PT" dirty="0" smtClean="0"/>
              <a:t> - Adapte as funções </a:t>
            </a:r>
            <a:r>
              <a:rPr lang="pt-PT" dirty="0" err="1" smtClean="0"/>
              <a:t>insereInicio</a:t>
            </a:r>
            <a:r>
              <a:rPr lang="pt-PT" dirty="0" smtClean="0"/>
              <a:t> e </a:t>
            </a:r>
            <a:r>
              <a:rPr lang="pt-PT" dirty="0" err="1" smtClean="0"/>
              <a:t>insereFim</a:t>
            </a:r>
            <a:r>
              <a:rPr lang="pt-PT" dirty="0" smtClean="0"/>
              <a:t> para permitir funcionarem com uma lista circular (adicione um parâmetro extra que indica se a lista é circular ou não)</a:t>
            </a:r>
          </a:p>
          <a:p>
            <a:r>
              <a:rPr lang="pt-PT" b="1" dirty="0" smtClean="0"/>
              <a:t>#7.2</a:t>
            </a:r>
            <a:r>
              <a:rPr lang="pt-PT" dirty="0" smtClean="0"/>
              <a:t> – Crie uma função para imprimir uma lista, passe um parâmetro adicional para indicar se é circular, garanta que a função consegue imprimir uma lista ligada tanto </a:t>
            </a:r>
            <a:r>
              <a:rPr lang="pt-PT" b="1" i="1" dirty="0" err="1" smtClean="0"/>
              <a:t>null</a:t>
            </a:r>
            <a:r>
              <a:rPr lang="pt-PT" b="1" i="1" dirty="0" smtClean="0"/>
              <a:t> </a:t>
            </a:r>
            <a:r>
              <a:rPr lang="pt-PT" b="1" i="1" dirty="0" err="1" smtClean="0"/>
              <a:t>terminated</a:t>
            </a:r>
            <a:r>
              <a:rPr lang="pt-PT" dirty="0" smtClean="0"/>
              <a:t> como </a:t>
            </a:r>
            <a:r>
              <a:rPr lang="pt-PT" b="1" i="1" dirty="0" smtClean="0"/>
              <a:t>circular</a:t>
            </a:r>
            <a:endParaRPr lang="pt-PT" b="1" i="1" dirty="0" smtClean="0"/>
          </a:p>
        </p:txBody>
      </p:sp>
    </p:spTree>
    <p:extLst>
      <p:ext uri="{BB962C8B-B14F-4D97-AF65-F5344CB8AC3E}">
        <p14:creationId xmlns:p14="http://schemas.microsoft.com/office/powerpoint/2010/main" val="341306720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TEC_Template_pt">
  <a:themeElements>
    <a:clrScheme name="Volkswagen">
      <a:dk1>
        <a:srgbClr val="33434C"/>
      </a:dk1>
      <a:lt1>
        <a:srgbClr val="FFFFFF"/>
      </a:lt1>
      <a:dk2>
        <a:srgbClr val="73B1DD"/>
      </a:dk2>
      <a:lt2>
        <a:srgbClr val="CFD7D9"/>
      </a:lt2>
      <a:accent1>
        <a:srgbClr val="003C65"/>
      </a:accent1>
      <a:accent2>
        <a:srgbClr val="2274AC"/>
      </a:accent2>
      <a:accent3>
        <a:srgbClr val="8994A0"/>
      </a:accent3>
      <a:accent4>
        <a:srgbClr val="005D4D"/>
      </a:accent4>
      <a:accent5>
        <a:srgbClr val="730019"/>
      </a:accent5>
      <a:accent6>
        <a:srgbClr val="FF871F"/>
      </a:accent6>
      <a:hlink>
        <a:srgbClr val="33434C"/>
      </a:hlink>
      <a:folHlink>
        <a:srgbClr val="8994A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lIns="0" tIns="0" rIns="0" bIns="0" rtlCol="0">
        <a:noAutofit/>
      </a:bodyPr>
      <a:lstStyle>
        <a:defPPr>
          <a:defRPr sz="21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VW_Basic_Template_en</Template>
  <TotalTime>0</TotalTime>
  <Words>463</Words>
  <Application>Microsoft Office PowerPoint</Application>
  <PresentationFormat>A4 Paper (210x297 mm)</PresentationFormat>
  <Paragraphs>173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VW Headline OT-Book</vt:lpstr>
      <vt:lpstr>ATEC_Template_pt</vt:lpstr>
      <vt:lpstr>Programação Computadores - estruturada 5412</vt:lpstr>
      <vt:lpstr>Introdução</vt:lpstr>
      <vt:lpstr>Repositório</vt:lpstr>
      <vt:lpstr>Tópicos a abordar</vt:lpstr>
      <vt:lpstr>Header .h vs Source .cpp</vt:lpstr>
      <vt:lpstr>Header .h vs Source .cpp</vt:lpstr>
      <vt:lpstr>Apontadores</vt:lpstr>
      <vt:lpstr>Apontadores</vt:lpstr>
      <vt:lpstr>Apontadores</vt:lpstr>
      <vt:lpstr>Apontadores</vt:lpstr>
      <vt:lpstr>Listas ligadas</vt:lpstr>
      <vt:lpstr>Listas ligadas</vt:lpstr>
      <vt:lpstr>Listas ligadas</vt:lpstr>
      <vt:lpstr>Listas ligadas</vt:lpstr>
      <vt:lpstr>Listas ligadas</vt:lpstr>
      <vt:lpstr>Listas ligadas</vt:lpstr>
      <vt:lpstr>Listas ligadas</vt:lpstr>
      <vt:lpstr>Listas ligadas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2013-03-13T09:54:52Z</dcterms:created>
  <dcterms:modified xsi:type="dcterms:W3CDTF">2015-03-15T11:38:54Z</dcterms:modified>
</cp:coreProperties>
</file>